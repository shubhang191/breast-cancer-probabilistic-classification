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review revisits our breast cancer classification project from Review 1 and adds the remaining statistical analysis. We use 30 numerical measurements extracted from digitized biopsy-cell images, not the raw images themselves. The main models are Logistic Regression and Gaussian Naive Bayes; the extension adds Random Forest. Logistic Regression achieved 98.25 percent accuracy on the held-out test set. The reported McNemar p-value is for our preplanned LR versus Naive Bayes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Wisconsin Diagnostic Breast Cancer dataset. There are 569 samples, with 212 malignant and 357 benign tumours. For each sample, there are 30 precomputed features describing properties of cell nuclei such as radius, area and concavity. The extraction from microscope images was performed by the dataset creators, so this is tabular classification rather than computer vision. Because the data contain more benign than malignant examples, accuracy alone can hide dangerous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comparison used two different statistical approaches. Logistic Regression computes a linear combination of standardized measurements and applies a sigmoid to estimate probability; its weights are fitted using penalized maximum likelihood. Gaussian Naive Bayes applies Bayes theorem to class priors and Gaussian distributions for each feature, with an independence assumption. We created a stratified 80-20 split of 455 training and 114 test samples. The scaler was fitted only on training examples to prevent leakage, and evaluation included cross-validation and ROC-AUC.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Review 1, Logistic Regression achieved 98.25 percent test accuracy and a ROC-AUC of 0.9954. Gaussian Naive Bayes achieved 92.98 percent accuracy and an AUC of 0.9868. Logistic Regression missed one out of 42 malignant cases, while Naive Bayes missed four. The original precision and recall here use benign as the positive category, so be careful when referring to malignant recall separately. A potential reason Naive Bayes performs worse is that measured radius, perimeter and area are highly correlated, violating the naive conditional independence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first review, the remaining work had four parts. First, we checked whether the accuracy advantage of Logistic Regression over Naive Bayes was statistically convincing using paired tests. Second, we tuned the regularization parameter C and tested a malignancy-focused threshold. Third, we introduced Random Forest and used SHAP to interpret its feature importance. Fourth, we assessed probability calibration and prepared the final comparison. Importantly, an experiment can be successful even if the best setting is unchanged or a new threshold fails to improve the test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between model accuracies on the same patients is a paired comparison, so McNemar is suitable. Both classifiers were right on 106 patients and both wrong on 2. Logistic Regression was right while Naive Bayes was wrong on 6, and the reverse never occurred. The exact McNemar test gives p=0.0312 for this planned hypothesis. The paired bootstrap interval for the accuracy difference is +1.75 to +9.65 percentage points, and a repeated cross-validation corrected t-test gives p about 0.0012. However, when we explore all three model pairs, a Bonferroni correction raises the adjusted LR versus GNB p-value to about 0.0938, so it is not significant at 5% under that broader family of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logistic regression model uses L2 regularization. The parameter C is the inverse of regularization strength, so smaller C shrinks coefficients more aggressively. We evaluated 13 choices on logarithmic scale using cross-validation inside the training set, and selected by log-loss because our model outputs probabilities. The minimum mean cross-validation log-loss was 0.0723 at C equals 1, and that same value had the highest AUC of 0.9959 in this grid. This is the default C of scikit-learn, so the search validated rather than replaced the baseline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rule predicts malignant when its probability is at least 0.50. To prioritize detecting malignant cases, we tested thresholds between 0.05 and 0.95 and chose the threshold maximizing F2, which weights recall more than precision. The best out-of-fold training F2 occurred at 0.45. On the untouched test set, however, the threshold of 0.45 still caught 41 of the 42 malignant cases. It also falsely flagged four benign samples instead of one, reducing accuracy from 98.25 percent to 95.61 percent. Therefore we retained 0.50 as the preferable tested threshold on these results; the tuned threshold is not presented as a performance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a Random Forest with 500 trees as a third comparison model. Each tree learns if-then splits, and the forest aggregates their predictions, allowing nonlinear relationships and interactions between features. Random Forest achieved 95.61 percent accuracy, ROC-AUC 0.9931, and missed 3 malignant test samples, compared with one for Logistic Regression. Its shuffled five-fold cross-validation AUC was 0.9896 plus or minus 0.0077. So this was a useful alternative, but the test results did not support replacing our Logistic Regression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is not enough to show how a feature affects an individual prediction, so we used SHAP for the Random Forest. In the bar plot, the longest bars correspond to the greatest mean absolute SHAP contribution. The most influential features are worst area, worst perimeter and worst concave points. In the beeswarm, red indicates a higher feature value; to the right of zero means a contribution toward malignancy in this class-specific view. Logistic Regression coefficient magnitudes and Random Forest SHAP are not directly equal, but six of the ten leading feature names overlap; the Spearman correlation between ranks across all 30 features is 0.71. These are model explanations, not causal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classification probability should be meaningful, not merely rank the correct class higher. We plotted mean predicted probability of benign against the observed proportion of benign cases. Perfect calibration would follow the dashed diagonal. Logistic Regression and Random Forest were relatively close to that line, while Naive Bayes deviated more. Brier score and log-loss confirm this: Logistic Regression had the lowest Brier score, 0.0215, and log-loss, 0.0777. Random Forest scored 0.0319 and 0.1089, and Naive Bayes scored 0.0602 and 0.4370. The reliability curves have few distinct points due to the small test size and probabilities concentrated near the extremes.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final test results. Logistic Regression with its default C and 0.50 threshold performed best at 98.25 percent accuracy, an AUC of 0.9954, one missed malignant case, and Brier score 0.0215. Random Forest came next with 95.61 percent accuracy, and Naive Bayes had 92.98 percent. The tuned 0.45 threshold version of Logistic Regression still has the same AUC and Brier score because probability predictions are unchanged, but accuracy falls to 95.61 percent and malignant missed remains one. The ROC plot shows that all three models have high discriminative ability, but this alone does not establish clinical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overall conclusion is that Logistic Regression was the strongest method in this particular benchmark comparison. The original model achieved the best test accuracy and probability-quality scores, and detected 41 of the 42 malignant test cases. Our preplanned statistical comparison against Gaussian Naive Bayes gave an exact McNemar p-value of 0.0312, but it does not remain below 0.05 after correction for the three exploratory pairwise tests. The regularization search showed the default parameter C equals one was already best. The threshold change worsened accuracy without recovering an extra malignant case, and Random Forest was competitive but did not exceed Logistic Regression on test accuracy. These results illustrate methods for Probability and Statistics and are not evidence of a deployable cancer-diagnosis system because our dataset and held-out test set are small and there is no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B49"/>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90D0C6"/>
          </a:solidFill>
          <a:ln w="12700">
            <a:solidFill>
              <a:srgbClr val="90D0C6">
                <a:alpha val="0"/>
              </a:srgbClr>
            </a:solidFill>
            <a:prstDash val="solid"/>
          </a:ln>
        </p:spPr>
      </p:sp>
      <p:sp>
        <p:nvSpPr>
          <p:cNvPr id="3" name="Text 1"/>
          <p:cNvSpPr/>
          <p:nvPr/>
        </p:nvSpPr>
        <p:spPr>
          <a:xfrm>
            <a:off x="566928" y="356616"/>
            <a:ext cx="9144000" cy="292608"/>
          </a:xfrm>
          <a:prstGeom prst="rect">
            <a:avLst/>
          </a:prstGeom>
          <a:noFill/>
          <a:ln/>
        </p:spPr>
        <p:txBody>
          <a:bodyPr wrap="square" lIns="0" tIns="0" rIns="0" bIns="0" rtlCol="0" anchor="ctr">
            <a:normAutofit/>
          </a:bodyPr>
          <a:lstStyle/>
          <a:p>
            <a:pPr indent="0" marL="0">
              <a:buNone/>
            </a:pPr>
            <a:r>
              <a:rPr lang="en-US" sz="1130" b="1" spc="120" kern="0" dirty="0">
                <a:solidFill>
                  <a:srgbClr val="90D0C6"/>
                </a:solidFill>
                <a:latin typeface="Aptos" pitchFamily="34" charset="0"/>
                <a:ea typeface="Aptos" pitchFamily="34" charset="-122"/>
                <a:cs typeface="Aptos" pitchFamily="34" charset="-120"/>
              </a:rPr>
              <a:t>F I N A L   P R O J E C T   R E V I E W    |    B A M A T 2 0 7</a:t>
            </a:r>
            <a:endParaRPr lang="en-US" sz="1130" dirty="0"/>
          </a:p>
        </p:txBody>
      </p:sp>
      <p:sp>
        <p:nvSpPr>
          <p:cNvPr id="4" name="Text 2"/>
          <p:cNvSpPr/>
          <p:nvPr/>
        </p:nvSpPr>
        <p:spPr>
          <a:xfrm>
            <a:off x="594360" y="1097280"/>
            <a:ext cx="7388352" cy="2057400"/>
          </a:xfrm>
          <a:prstGeom prst="rect">
            <a:avLst/>
          </a:prstGeom>
          <a:noFill/>
          <a:ln/>
        </p:spPr>
        <p:txBody>
          <a:bodyPr wrap="square" lIns="0" tIns="0" rIns="0" bIns="0" rtlCol="0" anchor="ctr">
            <a:normAutofit/>
          </a:bodyPr>
          <a:lstStyle/>
          <a:p>
            <a:pPr indent="0" marL="0">
              <a:buNone/>
            </a:pPr>
            <a:r>
              <a:rPr lang="en-US" sz="3250" b="1" dirty="0">
                <a:solidFill>
                  <a:srgbClr val="FFFFFF"/>
                </a:solidFill>
                <a:latin typeface="Georgia" pitchFamily="34" charset="0"/>
                <a:ea typeface="Georgia" pitchFamily="34" charset="-122"/>
                <a:cs typeface="Georgia" pitchFamily="34" charset="-120"/>
              </a:rPr>
              <a:t>Breast Cancer Classification</a:t>
            </a:r>
            <a:endParaRPr lang="en-US" sz="3250" dirty="0"/>
          </a:p>
          <a:p>
            <a:pPr indent="0" marL="0">
              <a:buNone/>
            </a:pPr>
            <a:r>
              <a:rPr lang="en-US" sz="3250" b="1" dirty="0">
                <a:solidFill>
                  <a:srgbClr val="FFFFFF"/>
                </a:solidFill>
                <a:latin typeface="Georgia" pitchFamily="34" charset="0"/>
                <a:ea typeface="Georgia" pitchFamily="34" charset="-122"/>
                <a:cs typeface="Georgia" pitchFamily="34" charset="-120"/>
              </a:rPr>
              <a:t>using Probabilistic Machine Learning</a:t>
            </a:r>
            <a:endParaRPr lang="en-US" sz="3250" dirty="0"/>
          </a:p>
        </p:txBody>
      </p:sp>
      <p:sp>
        <p:nvSpPr>
          <p:cNvPr id="5" name="Shape 3"/>
          <p:cNvSpPr/>
          <p:nvPr/>
        </p:nvSpPr>
        <p:spPr>
          <a:xfrm>
            <a:off x="603504" y="3493008"/>
            <a:ext cx="1042416" cy="45720"/>
          </a:xfrm>
          <a:prstGeom prst="rect">
            <a:avLst/>
          </a:prstGeom>
          <a:solidFill>
            <a:srgbClr val="90D0C6"/>
          </a:solidFill>
          <a:ln w="12700">
            <a:solidFill>
              <a:srgbClr val="90D0C6">
                <a:alpha val="0"/>
              </a:srgbClr>
            </a:solidFill>
            <a:prstDash val="solid"/>
          </a:ln>
        </p:spPr>
      </p:sp>
      <p:sp>
        <p:nvSpPr>
          <p:cNvPr id="6" name="Text 4"/>
          <p:cNvSpPr/>
          <p:nvPr/>
        </p:nvSpPr>
        <p:spPr>
          <a:xfrm>
            <a:off x="612648" y="3803904"/>
            <a:ext cx="7159752" cy="950976"/>
          </a:xfrm>
          <a:prstGeom prst="rect">
            <a:avLst/>
          </a:prstGeom>
          <a:noFill/>
          <a:ln/>
        </p:spPr>
        <p:txBody>
          <a:bodyPr wrap="square" lIns="0" tIns="0" rIns="0" bIns="0" rtlCol="0" anchor="t">
            <a:normAutofit/>
          </a:bodyPr>
          <a:lstStyle/>
          <a:p>
            <a:pPr indent="0" marL="0">
              <a:buNone/>
            </a:pPr>
            <a:r>
              <a:rPr lang="en-US" sz="1720" dirty="0">
                <a:solidFill>
                  <a:srgbClr val="D3E7E5"/>
                </a:solidFill>
                <a:latin typeface="Aptos" pitchFamily="34" charset="0"/>
                <a:ea typeface="Aptos" pitchFamily="34" charset="-122"/>
                <a:cs typeface="Aptos" pitchFamily="34" charset="-120"/>
              </a:rPr>
              <a:t>From initial probability models to statistical testing, model tuning and explainable results</a:t>
            </a:r>
            <a:endParaRPr lang="en-US" sz="1720" dirty="0"/>
          </a:p>
        </p:txBody>
      </p:sp>
      <p:sp>
        <p:nvSpPr>
          <p:cNvPr id="7" name="Text 5"/>
          <p:cNvSpPr/>
          <p:nvPr/>
        </p:nvSpPr>
        <p:spPr>
          <a:xfrm>
            <a:off x="612648" y="5705856"/>
            <a:ext cx="7626096" cy="530352"/>
          </a:xfrm>
          <a:prstGeom prst="rect">
            <a:avLst/>
          </a:prstGeom>
          <a:noFill/>
          <a:ln/>
        </p:spPr>
        <p:txBody>
          <a:bodyPr wrap="square" lIns="0" tIns="0" rIns="0" bIns="0" rtlCol="0" anchor="ctr">
            <a:normAutofit/>
          </a:bodyPr>
          <a:lstStyle/>
          <a:p>
            <a:pPr indent="0" marL="0">
              <a:buNone/>
            </a:pPr>
            <a:r>
              <a:rPr lang="en-US" sz="1180" dirty="0">
                <a:solidFill>
                  <a:srgbClr val="D4EBE9"/>
                </a:solidFill>
                <a:latin typeface="Aptos" pitchFamily="34" charset="0"/>
                <a:ea typeface="Aptos" pitchFamily="34" charset="-122"/>
                <a:cs typeface="Aptos" pitchFamily="34" charset="-120"/>
              </a:rPr>
              <a:t>Shubhang Shrivats (25BCE2578)   |   Aryan Singh (25BCE0324)</a:t>
            </a:r>
            <a:endParaRPr lang="en-US" sz="1180" dirty="0"/>
          </a:p>
          <a:p>
            <a:pPr indent="0" marL="0">
              <a:buNone/>
            </a:pPr>
            <a:r>
              <a:rPr lang="en-US" sz="1180" dirty="0">
                <a:solidFill>
                  <a:srgbClr val="D4EBE9"/>
                </a:solidFill>
                <a:latin typeface="Aptos" pitchFamily="34" charset="0"/>
                <a:ea typeface="Aptos" pitchFamily="34" charset="-122"/>
                <a:cs typeface="Aptos" pitchFamily="34" charset="-120"/>
              </a:rPr>
              <a:t>Sarasij Roy (25BDS0259)   •   VIT Vellore   •   Dr. Pallavi Mishra</a:t>
            </a:r>
            <a:endParaRPr lang="en-US" sz="1180" dirty="0"/>
          </a:p>
        </p:txBody>
      </p:sp>
      <p:sp>
        <p:nvSpPr>
          <p:cNvPr id="8" name="Shape 6"/>
          <p:cNvSpPr/>
          <p:nvPr/>
        </p:nvSpPr>
        <p:spPr>
          <a:xfrm>
            <a:off x="8366760" y="1115568"/>
            <a:ext cx="3163824" cy="1252728"/>
          </a:xfrm>
          <a:prstGeom prst="roundRect">
            <a:avLst>
              <a:gd name="adj" fmla="val 8759"/>
            </a:avLst>
          </a:prstGeom>
          <a:solidFill>
            <a:srgbClr val="1B697C"/>
          </a:solidFill>
          <a:ln w="12700">
            <a:solidFill>
              <a:srgbClr val="1B697C">
                <a:alpha val="0"/>
              </a:srgbClr>
            </a:solidFill>
            <a:prstDash val="solid"/>
          </a:ln>
        </p:spPr>
      </p:sp>
      <p:sp>
        <p:nvSpPr>
          <p:cNvPr id="9" name="Text 7"/>
          <p:cNvSpPr/>
          <p:nvPr/>
        </p:nvSpPr>
        <p:spPr>
          <a:xfrm>
            <a:off x="8549640" y="1280160"/>
            <a:ext cx="2798064"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Georgia" pitchFamily="34" charset="0"/>
                <a:ea typeface="Georgia" pitchFamily="34" charset="-122"/>
                <a:cs typeface="Georgia" pitchFamily="34" charset="-120"/>
              </a:rPr>
              <a:t>569</a:t>
            </a:r>
            <a:endParaRPr lang="en-US" sz="2500" dirty="0"/>
          </a:p>
        </p:txBody>
      </p:sp>
      <p:sp>
        <p:nvSpPr>
          <p:cNvPr id="10" name="Text 8"/>
          <p:cNvSpPr/>
          <p:nvPr/>
        </p:nvSpPr>
        <p:spPr>
          <a:xfrm>
            <a:off x="8549640" y="1847088"/>
            <a:ext cx="2798064" cy="448056"/>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Tumour samples; 30 numerical features</a:t>
            </a:r>
            <a:endParaRPr lang="en-US" sz="1210" dirty="0"/>
          </a:p>
        </p:txBody>
      </p:sp>
      <p:sp>
        <p:nvSpPr>
          <p:cNvPr id="11" name="Shape 9"/>
          <p:cNvSpPr/>
          <p:nvPr/>
        </p:nvSpPr>
        <p:spPr>
          <a:xfrm>
            <a:off x="8366760" y="2660904"/>
            <a:ext cx="3163824" cy="1252728"/>
          </a:xfrm>
          <a:prstGeom prst="roundRect">
            <a:avLst>
              <a:gd name="adj" fmla="val 8759"/>
            </a:avLst>
          </a:prstGeom>
          <a:solidFill>
            <a:srgbClr val="1B697C"/>
          </a:solidFill>
          <a:ln w="12700">
            <a:solidFill>
              <a:srgbClr val="1B697C">
                <a:alpha val="0"/>
              </a:srgbClr>
            </a:solidFill>
            <a:prstDash val="solid"/>
          </a:ln>
        </p:spPr>
      </p:sp>
      <p:sp>
        <p:nvSpPr>
          <p:cNvPr id="12" name="Text 10"/>
          <p:cNvSpPr/>
          <p:nvPr/>
        </p:nvSpPr>
        <p:spPr>
          <a:xfrm>
            <a:off x="8549640" y="2825496"/>
            <a:ext cx="2798064"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Georgia" pitchFamily="34" charset="0"/>
                <a:ea typeface="Georgia" pitchFamily="34" charset="-122"/>
                <a:cs typeface="Georgia" pitchFamily="34" charset="-120"/>
              </a:rPr>
              <a:t>98.25%</a:t>
            </a:r>
            <a:endParaRPr lang="en-US" sz="2500" dirty="0"/>
          </a:p>
        </p:txBody>
      </p:sp>
      <p:sp>
        <p:nvSpPr>
          <p:cNvPr id="13" name="Text 11"/>
          <p:cNvSpPr/>
          <p:nvPr/>
        </p:nvSpPr>
        <p:spPr>
          <a:xfrm>
            <a:off x="8549640" y="3392424"/>
            <a:ext cx="2798064" cy="448056"/>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Highest held-out test accuracy (Logistic Regression)</a:t>
            </a:r>
            <a:endParaRPr lang="en-US" sz="1210" dirty="0"/>
          </a:p>
        </p:txBody>
      </p:sp>
      <p:sp>
        <p:nvSpPr>
          <p:cNvPr id="14" name="Shape 12"/>
          <p:cNvSpPr/>
          <p:nvPr/>
        </p:nvSpPr>
        <p:spPr>
          <a:xfrm>
            <a:off x="8366760" y="4206240"/>
            <a:ext cx="3163824" cy="1252728"/>
          </a:xfrm>
          <a:prstGeom prst="roundRect">
            <a:avLst>
              <a:gd name="adj" fmla="val 8759"/>
            </a:avLst>
          </a:prstGeom>
          <a:solidFill>
            <a:srgbClr val="1B697C"/>
          </a:solidFill>
          <a:ln w="12700">
            <a:solidFill>
              <a:srgbClr val="1B697C">
                <a:alpha val="0"/>
              </a:srgbClr>
            </a:solidFill>
            <a:prstDash val="solid"/>
          </a:ln>
        </p:spPr>
      </p:sp>
      <p:sp>
        <p:nvSpPr>
          <p:cNvPr id="15" name="Text 13"/>
          <p:cNvSpPr/>
          <p:nvPr/>
        </p:nvSpPr>
        <p:spPr>
          <a:xfrm>
            <a:off x="8549640" y="4370832"/>
            <a:ext cx="2798064"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Georgia" pitchFamily="34" charset="0"/>
                <a:ea typeface="Georgia" pitchFamily="34" charset="-122"/>
                <a:cs typeface="Georgia" pitchFamily="34" charset="-120"/>
              </a:rPr>
              <a:t>p = 0.0312</a:t>
            </a:r>
            <a:endParaRPr lang="en-US" sz="2500" dirty="0"/>
          </a:p>
        </p:txBody>
      </p:sp>
      <p:sp>
        <p:nvSpPr>
          <p:cNvPr id="16" name="Text 14"/>
          <p:cNvSpPr/>
          <p:nvPr/>
        </p:nvSpPr>
        <p:spPr>
          <a:xfrm>
            <a:off x="8549640" y="4937760"/>
            <a:ext cx="2798064" cy="448056"/>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Exact planned McNemar comparison: LR versus GNB</a:t>
            </a:r>
            <a:endParaRPr lang="en-US" sz="12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1  |  PROBLEM AND DATASET</a:t>
            </a:r>
            <a:endParaRPr lang="en-US" sz="1130" dirty="0"/>
          </a:p>
        </p:txBody>
      </p:sp>
      <p:sp>
        <p:nvSpPr>
          <p:cNvPr id="3" name="Text 1"/>
          <p:cNvSpPr/>
          <p:nvPr/>
        </p:nvSpPr>
        <p:spPr>
          <a:xfrm>
            <a:off x="530352" y="630936"/>
            <a:ext cx="11109960" cy="530352"/>
          </a:xfrm>
          <a:prstGeom prst="rect">
            <a:avLst/>
          </a:prstGeom>
          <a:noFill/>
          <a:ln/>
        </p:spPr>
        <p:txBody>
          <a:bodyPr wrap="square" lIns="0" tIns="0" rIns="0" bIns="0" rtlCol="0" anchor="ctr">
            <a:normAutofit/>
          </a:bodyPr>
          <a:lstStyle/>
          <a:p>
            <a:pPr indent="0" marL="0">
              <a:buNone/>
            </a:pPr>
            <a:r>
              <a:rPr lang="en-US" sz="2900" b="1" dirty="0">
                <a:solidFill>
                  <a:srgbClr val="1D3540"/>
                </a:solidFill>
                <a:latin typeface="Georgia" pitchFamily="34" charset="0"/>
                <a:ea typeface="Georgia" pitchFamily="34" charset="-122"/>
                <a:cs typeface="Georgia" pitchFamily="34" charset="-120"/>
              </a:rPr>
              <a:t>What exactly are we predicting?</a:t>
            </a:r>
            <a:endParaRPr lang="en-US" sz="2900" dirty="0"/>
          </a:p>
        </p:txBody>
      </p:sp>
      <p:sp>
        <p:nvSpPr>
          <p:cNvPr id="4" name="Text 2"/>
          <p:cNvSpPr/>
          <p:nvPr/>
        </p:nvSpPr>
        <p:spPr>
          <a:xfrm>
            <a:off x="539496" y="1271016"/>
            <a:ext cx="11064240" cy="338328"/>
          </a:xfrm>
          <a:prstGeom prst="rect">
            <a:avLst/>
          </a:prstGeom>
          <a:noFill/>
          <a:ln/>
        </p:spPr>
        <p:txBody>
          <a:bodyPr wrap="square" lIns="0" tIns="0" rIns="0" bIns="0" rtlCol="0" anchor="ctr">
            <a:normAutofit/>
          </a:bodyPr>
          <a:lstStyle/>
          <a:p>
            <a:pPr indent="0" marL="0">
              <a:buNone/>
            </a:pPr>
            <a:r>
              <a:rPr lang="en-US" sz="1220" dirty="0">
                <a:solidFill>
                  <a:srgbClr val="61757B"/>
                </a:solidFill>
                <a:latin typeface="Aptos" pitchFamily="34" charset="0"/>
                <a:ea typeface="Aptos" pitchFamily="34" charset="-122"/>
                <a:cs typeface="Aptos" pitchFamily="34" charset="-120"/>
              </a:rPr>
              <a:t>Each row is a pre-extracted numerical description of cell nuclei - not an input medical scan.</a:t>
            </a:r>
            <a:endParaRPr lang="en-US" sz="1220" dirty="0"/>
          </a:p>
        </p:txBody>
      </p:sp>
      <p:sp>
        <p:nvSpPr>
          <p:cNvPr id="5" name="Shape 3"/>
          <p:cNvSpPr/>
          <p:nvPr/>
        </p:nvSpPr>
        <p:spPr>
          <a:xfrm>
            <a:off x="530352" y="6446520"/>
            <a:ext cx="11128248" cy="0"/>
          </a:xfrm>
          <a:prstGeom prst="line">
            <a:avLst/>
          </a:prstGeom>
          <a:noFill/>
          <a:ln w="10160">
            <a:solidFill>
              <a:srgbClr val="DAE6E7"/>
            </a:solidFill>
            <a:prstDash val="solid"/>
          </a:ln>
        </p:spPr>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2</a:t>
            </a:r>
            <a:endParaRPr lang="en-US" sz="930" dirty="0"/>
          </a:p>
        </p:txBody>
      </p:sp>
      <p:sp>
        <p:nvSpPr>
          <p:cNvPr id="8" name="Shape 6"/>
          <p:cNvSpPr/>
          <p:nvPr/>
        </p:nvSpPr>
        <p:spPr>
          <a:xfrm>
            <a:off x="530352" y="1783080"/>
            <a:ext cx="4736592" cy="1344168"/>
          </a:xfrm>
          <a:prstGeom prst="roundRect">
            <a:avLst>
              <a:gd name="adj" fmla="val 8163"/>
            </a:avLst>
          </a:prstGeom>
          <a:solidFill>
            <a:srgbClr val="E9F4F3"/>
          </a:solidFill>
          <a:ln w="12700">
            <a:solidFill>
              <a:srgbClr val="E9F4F3">
                <a:alpha val="0"/>
              </a:srgbClr>
            </a:solidFill>
            <a:prstDash val="solid"/>
          </a:ln>
        </p:spPr>
      </p:sp>
      <p:sp>
        <p:nvSpPr>
          <p:cNvPr id="9" name="Text 7"/>
          <p:cNvSpPr/>
          <p:nvPr/>
        </p:nvSpPr>
        <p:spPr>
          <a:xfrm>
            <a:off x="740664" y="1965960"/>
            <a:ext cx="4251960" cy="219456"/>
          </a:xfrm>
          <a:prstGeom prst="rect">
            <a:avLst/>
          </a:prstGeom>
          <a:noFill/>
          <a:ln/>
        </p:spPr>
        <p:txBody>
          <a:bodyPr wrap="square" lIns="0" tIns="0" rIns="0" bIns="0" rtlCol="0" anchor="ctr">
            <a:normAutofit/>
          </a:bodyPr>
          <a:lstStyle/>
          <a:p>
            <a:pPr indent="0" marL="0">
              <a:buNone/>
            </a:pPr>
            <a:r>
              <a:rPr lang="en-US" sz="1100" b="1" spc="150" kern="0" dirty="0">
                <a:solidFill>
                  <a:srgbClr val="16778A"/>
                </a:solidFill>
                <a:latin typeface="Aptos" pitchFamily="34" charset="0"/>
                <a:ea typeface="Aptos" pitchFamily="34" charset="-122"/>
                <a:cs typeface="Aptos" pitchFamily="34" charset="-120"/>
              </a:rPr>
              <a:t>PROJECT OBJECTIVE</a:t>
            </a:r>
            <a:endParaRPr lang="en-US" sz="1100" dirty="0"/>
          </a:p>
        </p:txBody>
      </p:sp>
      <p:sp>
        <p:nvSpPr>
          <p:cNvPr id="10" name="Text 8"/>
          <p:cNvSpPr/>
          <p:nvPr/>
        </p:nvSpPr>
        <p:spPr>
          <a:xfrm>
            <a:off x="740664" y="2295144"/>
            <a:ext cx="4251960" cy="612648"/>
          </a:xfrm>
          <a:prstGeom prst="rect">
            <a:avLst/>
          </a:prstGeom>
          <a:noFill/>
          <a:ln/>
        </p:spPr>
        <p:txBody>
          <a:bodyPr wrap="square" lIns="0" tIns="0" rIns="0" bIns="0" rtlCol="0" anchor="ctr">
            <a:normAutofit/>
          </a:bodyPr>
          <a:lstStyle/>
          <a:p>
            <a:pPr indent="0" marL="0">
              <a:buNone/>
            </a:pPr>
            <a:r>
              <a:rPr lang="en-US" sz="1630" b="1" dirty="0">
                <a:solidFill>
                  <a:srgbClr val="1D3540"/>
                </a:solidFill>
                <a:latin typeface="Aptos" pitchFamily="34" charset="0"/>
                <a:ea typeface="Aptos" pitchFamily="34" charset="-122"/>
                <a:cs typeface="Aptos" pitchFamily="34" charset="-120"/>
              </a:rPr>
              <a:t>Given 30 measurements from a biopsy sample, predict whether the tumour is malignant or benign, along with a probability.</a:t>
            </a:r>
            <a:endParaRPr lang="en-US" sz="1630" dirty="0"/>
          </a:p>
        </p:txBody>
      </p:sp>
      <p:sp>
        <p:nvSpPr>
          <p:cNvPr id="11" name="Shape 9"/>
          <p:cNvSpPr/>
          <p:nvPr/>
        </p:nvSpPr>
        <p:spPr>
          <a:xfrm>
            <a:off x="530352" y="3346704"/>
            <a:ext cx="2267712" cy="969264"/>
          </a:xfrm>
          <a:prstGeom prst="roundRect">
            <a:avLst>
              <a:gd name="adj" fmla="val 11321"/>
            </a:avLst>
          </a:prstGeom>
          <a:solidFill>
            <a:srgbClr val="E9F4F3"/>
          </a:solidFill>
          <a:ln w="12700">
            <a:solidFill>
              <a:srgbClr val="E9F4F3">
                <a:alpha val="0"/>
              </a:srgbClr>
            </a:solidFill>
            <a:prstDash val="solid"/>
          </a:ln>
        </p:spPr>
      </p:sp>
      <p:sp>
        <p:nvSpPr>
          <p:cNvPr id="12" name="Text 10"/>
          <p:cNvSpPr/>
          <p:nvPr/>
        </p:nvSpPr>
        <p:spPr>
          <a:xfrm>
            <a:off x="713232" y="3511296"/>
            <a:ext cx="1901952"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569</a:t>
            </a:r>
            <a:endParaRPr lang="en-US" sz="2500" dirty="0"/>
          </a:p>
        </p:txBody>
      </p:sp>
      <p:sp>
        <p:nvSpPr>
          <p:cNvPr id="13" name="Text 11"/>
          <p:cNvSpPr/>
          <p:nvPr/>
        </p:nvSpPr>
        <p:spPr>
          <a:xfrm>
            <a:off x="713232" y="4078224"/>
            <a:ext cx="1901952" cy="164592"/>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samples</a:t>
            </a:r>
            <a:endParaRPr lang="en-US" sz="1210" dirty="0"/>
          </a:p>
        </p:txBody>
      </p:sp>
      <p:sp>
        <p:nvSpPr>
          <p:cNvPr id="14" name="Shape 12"/>
          <p:cNvSpPr/>
          <p:nvPr/>
        </p:nvSpPr>
        <p:spPr>
          <a:xfrm>
            <a:off x="2926080" y="3346704"/>
            <a:ext cx="2267712" cy="969264"/>
          </a:xfrm>
          <a:prstGeom prst="roundRect">
            <a:avLst>
              <a:gd name="adj" fmla="val 11321"/>
            </a:avLst>
          </a:prstGeom>
          <a:solidFill>
            <a:srgbClr val="E9F4F3"/>
          </a:solidFill>
          <a:ln w="12700">
            <a:solidFill>
              <a:srgbClr val="E9F4F3">
                <a:alpha val="0"/>
              </a:srgbClr>
            </a:solidFill>
            <a:prstDash val="solid"/>
          </a:ln>
        </p:spPr>
      </p:sp>
      <p:sp>
        <p:nvSpPr>
          <p:cNvPr id="15" name="Text 13"/>
          <p:cNvSpPr/>
          <p:nvPr/>
        </p:nvSpPr>
        <p:spPr>
          <a:xfrm>
            <a:off x="3108960" y="3511296"/>
            <a:ext cx="1901952"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30</a:t>
            </a:r>
            <a:endParaRPr lang="en-US" sz="2500" dirty="0"/>
          </a:p>
        </p:txBody>
      </p:sp>
      <p:sp>
        <p:nvSpPr>
          <p:cNvPr id="16" name="Text 14"/>
          <p:cNvSpPr/>
          <p:nvPr/>
        </p:nvSpPr>
        <p:spPr>
          <a:xfrm>
            <a:off x="3108960" y="4078224"/>
            <a:ext cx="1901952" cy="164592"/>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features</a:t>
            </a:r>
            <a:endParaRPr lang="en-US" sz="1210" dirty="0"/>
          </a:p>
        </p:txBody>
      </p:sp>
      <p:sp>
        <p:nvSpPr>
          <p:cNvPr id="17" name="Shape 15"/>
          <p:cNvSpPr/>
          <p:nvPr/>
        </p:nvSpPr>
        <p:spPr>
          <a:xfrm>
            <a:off x="530352" y="4425696"/>
            <a:ext cx="2267712" cy="969264"/>
          </a:xfrm>
          <a:prstGeom prst="roundRect">
            <a:avLst>
              <a:gd name="adj" fmla="val 11321"/>
            </a:avLst>
          </a:prstGeom>
          <a:solidFill>
            <a:srgbClr val="E9F4F3"/>
          </a:solidFill>
          <a:ln w="12700">
            <a:solidFill>
              <a:srgbClr val="E9F4F3">
                <a:alpha val="0"/>
              </a:srgbClr>
            </a:solidFill>
            <a:prstDash val="solid"/>
          </a:ln>
        </p:spPr>
      </p:sp>
      <p:sp>
        <p:nvSpPr>
          <p:cNvPr id="18" name="Text 16"/>
          <p:cNvSpPr/>
          <p:nvPr/>
        </p:nvSpPr>
        <p:spPr>
          <a:xfrm>
            <a:off x="713232" y="4590288"/>
            <a:ext cx="1901952"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212</a:t>
            </a:r>
            <a:endParaRPr lang="en-US" sz="2500" dirty="0"/>
          </a:p>
        </p:txBody>
      </p:sp>
      <p:sp>
        <p:nvSpPr>
          <p:cNvPr id="19" name="Text 17"/>
          <p:cNvSpPr/>
          <p:nvPr/>
        </p:nvSpPr>
        <p:spPr>
          <a:xfrm>
            <a:off x="713232" y="5157216"/>
            <a:ext cx="1901952" cy="164592"/>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malignant</a:t>
            </a:r>
            <a:endParaRPr lang="en-US" sz="1210" dirty="0"/>
          </a:p>
        </p:txBody>
      </p:sp>
      <p:sp>
        <p:nvSpPr>
          <p:cNvPr id="20" name="Shape 18"/>
          <p:cNvSpPr/>
          <p:nvPr/>
        </p:nvSpPr>
        <p:spPr>
          <a:xfrm>
            <a:off x="2926080" y="4425696"/>
            <a:ext cx="2267712" cy="969264"/>
          </a:xfrm>
          <a:prstGeom prst="roundRect">
            <a:avLst>
              <a:gd name="adj" fmla="val 11321"/>
            </a:avLst>
          </a:prstGeom>
          <a:solidFill>
            <a:srgbClr val="E9F4F3"/>
          </a:solidFill>
          <a:ln w="12700">
            <a:solidFill>
              <a:srgbClr val="E9F4F3">
                <a:alpha val="0"/>
              </a:srgbClr>
            </a:solidFill>
            <a:prstDash val="solid"/>
          </a:ln>
        </p:spPr>
      </p:sp>
      <p:sp>
        <p:nvSpPr>
          <p:cNvPr id="21" name="Text 19"/>
          <p:cNvSpPr/>
          <p:nvPr/>
        </p:nvSpPr>
        <p:spPr>
          <a:xfrm>
            <a:off x="3108960" y="4590288"/>
            <a:ext cx="1901952"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357</a:t>
            </a:r>
            <a:endParaRPr lang="en-US" sz="2500" dirty="0"/>
          </a:p>
        </p:txBody>
      </p:sp>
      <p:sp>
        <p:nvSpPr>
          <p:cNvPr id="22" name="Text 20"/>
          <p:cNvSpPr/>
          <p:nvPr/>
        </p:nvSpPr>
        <p:spPr>
          <a:xfrm>
            <a:off x="3108960" y="5157216"/>
            <a:ext cx="1901952" cy="164592"/>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benign</a:t>
            </a:r>
            <a:endParaRPr lang="en-US" sz="1210" dirty="0"/>
          </a:p>
        </p:txBody>
      </p:sp>
      <p:pic>
        <p:nvPicPr>
          <p:cNvPr id="23" name="Image 0" descr="/mnt/data/bc_assets/classes_clean.png">    </p:cNvPr>
          <p:cNvPicPr>
            <a:picLocks noChangeAspect="1"/>
          </p:cNvPicPr>
          <p:nvPr/>
        </p:nvPicPr>
        <p:blipFill>
          <a:blip r:embed="rId1"/>
          <a:stretch>
            <a:fillRect/>
          </a:stretch>
        </p:blipFill>
        <p:spPr>
          <a:xfrm>
            <a:off x="5879592" y="1897029"/>
            <a:ext cx="5614416" cy="3210246"/>
          </a:xfrm>
          <a:prstGeom prst="rect">
            <a:avLst/>
          </a:prstGeom>
        </p:spPr>
      </p:pic>
      <p:sp>
        <p:nvSpPr>
          <p:cNvPr id="24" name="Shape 21"/>
          <p:cNvSpPr/>
          <p:nvPr/>
        </p:nvSpPr>
        <p:spPr>
          <a:xfrm>
            <a:off x="5870448" y="5230368"/>
            <a:ext cx="5605272" cy="676656"/>
          </a:xfrm>
          <a:prstGeom prst="roundRect">
            <a:avLst>
              <a:gd name="adj" fmla="val 16216"/>
            </a:avLst>
          </a:prstGeom>
          <a:solidFill>
            <a:srgbClr val="F3F7F7"/>
          </a:solidFill>
          <a:ln w="12700">
            <a:solidFill>
              <a:srgbClr val="F3F7F7">
                <a:alpha val="0"/>
              </a:srgbClr>
            </a:solidFill>
            <a:prstDash val="solid"/>
          </a:ln>
        </p:spPr>
      </p:sp>
      <p:sp>
        <p:nvSpPr>
          <p:cNvPr id="25" name="Text 22"/>
          <p:cNvSpPr/>
          <p:nvPr/>
        </p:nvSpPr>
        <p:spPr>
          <a:xfrm>
            <a:off x="6053328" y="5303520"/>
            <a:ext cx="5239512" cy="530352"/>
          </a:xfrm>
          <a:prstGeom prst="rect">
            <a:avLst/>
          </a:prstGeom>
          <a:noFill/>
          <a:ln/>
        </p:spPr>
        <p:txBody>
          <a:bodyPr wrap="square" lIns="0" tIns="0" rIns="0" bIns="0" rtlCol="0" anchor="ctr">
            <a:normAutofit/>
          </a:bodyPr>
          <a:lstStyle/>
          <a:p>
            <a:pPr indent="0" marL="0">
              <a:buNone/>
            </a:pPr>
            <a:r>
              <a:rPr lang="en-US" sz="1220" dirty="0">
                <a:solidFill>
                  <a:srgbClr val="1D3540"/>
                </a:solidFill>
                <a:latin typeface="Aptos" pitchFamily="34" charset="0"/>
                <a:ea typeface="Aptos" pitchFamily="34" charset="-122"/>
                <a:cs typeface="Aptos" pitchFamily="34" charset="-120"/>
              </a:rPr>
              <a:t>A model that always predicts “benign” would already reach 62.7% accuracy; therefore we also evaluate recall, errors and ROC-AUC.</a:t>
            </a:r>
            <a:endParaRPr lang="en-US" sz="1220" dirty="0"/>
          </a:p>
        </p:txBody>
      </p:sp>
      <p:sp>
        <p:nvSpPr>
          <p:cNvPr id="26" name="Text 23"/>
          <p:cNvSpPr/>
          <p:nvPr/>
        </p:nvSpPr>
        <p:spPr>
          <a:xfrm>
            <a:off x="566928" y="6099048"/>
            <a:ext cx="10515600" cy="210312"/>
          </a:xfrm>
          <a:prstGeom prst="rect">
            <a:avLst/>
          </a:prstGeom>
          <a:noFill/>
          <a:ln/>
        </p:spPr>
        <p:txBody>
          <a:bodyPr wrap="square" lIns="0" tIns="0" rIns="0" bIns="0" rtlCol="0" anchor="ctr">
            <a:normAutofit/>
          </a:bodyPr>
          <a:lstStyle/>
          <a:p>
            <a:pPr indent="0" marL="0">
              <a:buNone/>
            </a:pPr>
            <a:r>
              <a:rPr lang="en-US" sz="1020" dirty="0">
                <a:solidFill>
                  <a:srgbClr val="61757B"/>
                </a:solidFill>
                <a:latin typeface="Aptos" pitchFamily="34" charset="0"/>
                <a:ea typeface="Aptos" pitchFamily="34" charset="-122"/>
                <a:cs typeface="Aptos" pitchFamily="34" charset="-120"/>
              </a:rPr>
              <a:t>Dataset: Wisconsin Diagnostic Breast Cancer (WDBC), via scikit-learn / UCI; no missing values.</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2  |  REVIEW 1 RECAP</a:t>
            </a:r>
            <a:endParaRPr lang="en-US" sz="1130" dirty="0"/>
          </a:p>
        </p:txBody>
      </p:sp>
      <p:sp>
        <p:nvSpPr>
          <p:cNvPr id="3" name="Text 1"/>
          <p:cNvSpPr/>
          <p:nvPr/>
        </p:nvSpPr>
        <p:spPr>
          <a:xfrm>
            <a:off x="530352" y="630936"/>
            <a:ext cx="11109960" cy="530352"/>
          </a:xfrm>
          <a:prstGeom prst="rect">
            <a:avLst/>
          </a:prstGeom>
          <a:noFill/>
          <a:ln/>
        </p:spPr>
        <p:txBody>
          <a:bodyPr wrap="square" lIns="0" tIns="0" rIns="0" bIns="0" rtlCol="0" anchor="ctr">
            <a:normAutofit/>
          </a:bodyPr>
          <a:lstStyle/>
          <a:p>
            <a:pPr indent="0" marL="0">
              <a:buNone/>
            </a:pPr>
            <a:r>
              <a:rPr lang="en-US" sz="2900" b="1" dirty="0">
                <a:solidFill>
                  <a:srgbClr val="1D3540"/>
                </a:solidFill>
                <a:latin typeface="Georgia" pitchFamily="34" charset="0"/>
                <a:ea typeface="Georgia" pitchFamily="34" charset="-122"/>
                <a:cs typeface="Georgia" pitchFamily="34" charset="-120"/>
              </a:rPr>
              <a:t>Two probabilistic models, one fair experiment</a:t>
            </a:r>
            <a:endParaRPr lang="en-US" sz="2900" dirty="0"/>
          </a:p>
        </p:txBody>
      </p:sp>
      <p:sp>
        <p:nvSpPr>
          <p:cNvPr id="4" name="Text 2"/>
          <p:cNvSpPr/>
          <p:nvPr/>
        </p:nvSpPr>
        <p:spPr>
          <a:xfrm>
            <a:off x="539496" y="1271016"/>
            <a:ext cx="11064240" cy="338328"/>
          </a:xfrm>
          <a:prstGeom prst="rect">
            <a:avLst/>
          </a:prstGeom>
          <a:noFill/>
          <a:ln/>
        </p:spPr>
        <p:txBody>
          <a:bodyPr wrap="square" lIns="0" tIns="0" rIns="0" bIns="0" rtlCol="0" anchor="ctr">
            <a:normAutofit/>
          </a:bodyPr>
          <a:lstStyle/>
          <a:p>
            <a:pPr indent="0" marL="0">
              <a:buNone/>
            </a:pPr>
            <a:r>
              <a:rPr lang="en-US" sz="1220" dirty="0">
                <a:solidFill>
                  <a:srgbClr val="61757B"/>
                </a:solidFill>
                <a:latin typeface="Aptos" pitchFamily="34" charset="0"/>
                <a:ea typeface="Aptos" pitchFamily="34" charset="-122"/>
                <a:cs typeface="Aptos" pitchFamily="34" charset="-120"/>
              </a:rPr>
              <a:t>We applied the same train-test split to both models, and kept scaling inside training and CV.</a:t>
            </a:r>
            <a:endParaRPr lang="en-US" sz="1220" dirty="0"/>
          </a:p>
        </p:txBody>
      </p:sp>
      <p:sp>
        <p:nvSpPr>
          <p:cNvPr id="5" name="Shape 3"/>
          <p:cNvSpPr/>
          <p:nvPr/>
        </p:nvSpPr>
        <p:spPr>
          <a:xfrm>
            <a:off x="530352" y="6446520"/>
            <a:ext cx="11128248" cy="0"/>
          </a:xfrm>
          <a:prstGeom prst="line">
            <a:avLst/>
          </a:prstGeom>
          <a:noFill/>
          <a:ln w="10160">
            <a:solidFill>
              <a:srgbClr val="DAE6E7"/>
            </a:solidFill>
            <a:prstDash val="solid"/>
          </a:ln>
        </p:spPr>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3</a:t>
            </a:r>
            <a:endParaRPr lang="en-US" sz="930" dirty="0"/>
          </a:p>
        </p:txBody>
      </p:sp>
      <p:sp>
        <p:nvSpPr>
          <p:cNvPr id="8" name="Shape 6"/>
          <p:cNvSpPr/>
          <p:nvPr/>
        </p:nvSpPr>
        <p:spPr>
          <a:xfrm>
            <a:off x="548640" y="1764792"/>
            <a:ext cx="5486400" cy="1975104"/>
          </a:xfrm>
          <a:prstGeom prst="roundRect">
            <a:avLst>
              <a:gd name="adj" fmla="val 4630"/>
            </a:avLst>
          </a:prstGeom>
          <a:solidFill>
            <a:srgbClr val="E9F4F3"/>
          </a:solidFill>
          <a:ln w="12700">
            <a:solidFill>
              <a:srgbClr val="E9F4F3">
                <a:alpha val="0"/>
              </a:srgbClr>
            </a:solidFill>
            <a:prstDash val="solid"/>
          </a:ln>
        </p:spPr>
      </p:sp>
      <p:sp>
        <p:nvSpPr>
          <p:cNvPr id="9" name="Shape 7"/>
          <p:cNvSpPr/>
          <p:nvPr/>
        </p:nvSpPr>
        <p:spPr>
          <a:xfrm>
            <a:off x="548640" y="1764792"/>
            <a:ext cx="62179" cy="1975104"/>
          </a:xfrm>
          <a:prstGeom prst="rect">
            <a:avLst/>
          </a:prstGeom>
          <a:solidFill>
            <a:srgbClr val="16778A"/>
          </a:solidFill>
          <a:ln w="12700">
            <a:solidFill>
              <a:srgbClr val="16778A">
                <a:alpha val="0"/>
              </a:srgbClr>
            </a:solidFill>
            <a:prstDash val="solid"/>
          </a:ln>
        </p:spPr>
      </p:sp>
      <p:sp>
        <p:nvSpPr>
          <p:cNvPr id="10" name="Text 8"/>
          <p:cNvSpPr/>
          <p:nvPr/>
        </p:nvSpPr>
        <p:spPr>
          <a:xfrm>
            <a:off x="768096" y="1911096"/>
            <a:ext cx="5084064" cy="292608"/>
          </a:xfrm>
          <a:prstGeom prst="rect">
            <a:avLst/>
          </a:prstGeom>
          <a:noFill/>
          <a:ln/>
        </p:spPr>
        <p:txBody>
          <a:bodyPr wrap="square" lIns="0" tIns="0" rIns="0" bIns="0" rtlCol="0" anchor="ctr">
            <a:normAutofit/>
          </a:bodyPr>
          <a:lstStyle/>
          <a:p>
            <a:pPr indent="0" marL="0">
              <a:buNone/>
            </a:pPr>
            <a:r>
              <a:rPr lang="en-US" sz="1500" b="1" dirty="0">
                <a:solidFill>
                  <a:srgbClr val="16778A"/>
                </a:solidFill>
                <a:latin typeface="Aptos" pitchFamily="34" charset="0"/>
                <a:ea typeface="Aptos" pitchFamily="34" charset="-122"/>
                <a:cs typeface="Aptos" pitchFamily="34" charset="-120"/>
              </a:rPr>
              <a:t>Logistic Regression (LR)</a:t>
            </a:r>
            <a:endParaRPr lang="en-US" sz="1500" dirty="0"/>
          </a:p>
        </p:txBody>
      </p:sp>
      <p:sp>
        <p:nvSpPr>
          <p:cNvPr id="11" name="Text 9"/>
          <p:cNvSpPr/>
          <p:nvPr/>
        </p:nvSpPr>
        <p:spPr>
          <a:xfrm>
            <a:off x="768096" y="2295144"/>
            <a:ext cx="5093208" cy="1307592"/>
          </a:xfrm>
          <a:prstGeom prst="rect">
            <a:avLst/>
          </a:prstGeom>
          <a:noFill/>
          <a:ln/>
        </p:spPr>
        <p:txBody>
          <a:bodyPr wrap="square" lIns="0" tIns="0" rIns="0" bIns="0" rtlCol="0" anchor="t">
            <a:normAutofit/>
          </a:bodyPr>
          <a:lstStyle/>
          <a:p>
            <a:pPr indent="0" marL="0">
              <a:buNone/>
            </a:pPr>
            <a:r>
              <a:rPr lang="en-US" sz="1240" dirty="0">
                <a:solidFill>
                  <a:srgbClr val="1D3540"/>
                </a:solidFill>
                <a:latin typeface="Aptos" pitchFamily="34" charset="0"/>
                <a:ea typeface="Aptos" pitchFamily="34" charset="-122"/>
                <a:cs typeface="Aptos" pitchFamily="34" charset="-120"/>
              </a:rPr>
              <a:t>Learns a weighted score from 30 standardized inputs. The sigmoid turns that score into P(benign). Coefficients are fitted by penalised maximum likelihood.</a:t>
            </a:r>
            <a:endParaRPr lang="en-US" sz="1240" dirty="0"/>
          </a:p>
        </p:txBody>
      </p:sp>
      <p:sp>
        <p:nvSpPr>
          <p:cNvPr id="12" name="Text 10"/>
          <p:cNvSpPr/>
          <p:nvPr/>
        </p:nvSpPr>
        <p:spPr>
          <a:xfrm>
            <a:off x="758952" y="3182112"/>
            <a:ext cx="5074920" cy="256032"/>
          </a:xfrm>
          <a:prstGeom prst="rect">
            <a:avLst/>
          </a:prstGeom>
          <a:noFill/>
          <a:ln/>
        </p:spPr>
        <p:txBody>
          <a:bodyPr wrap="square" lIns="0" tIns="0" rIns="0" bIns="0" rtlCol="0" anchor="ctr">
            <a:normAutofit/>
          </a:bodyPr>
          <a:lstStyle/>
          <a:p>
            <a:pPr indent="0" marL="0">
              <a:buNone/>
            </a:pPr>
            <a:r>
              <a:rPr lang="en-US" sz="1600" b="1" dirty="0">
                <a:solidFill>
                  <a:srgbClr val="16778A"/>
                </a:solidFill>
                <a:latin typeface="Aptos" pitchFamily="34" charset="0"/>
                <a:ea typeface="Aptos" pitchFamily="34" charset="-122"/>
                <a:cs typeface="Aptos" pitchFamily="34" charset="-120"/>
              </a:rPr>
              <a:t>p = 1 / (1 + e⁻ᶻ)     |     z = β₀ + Σ βⱼxⱼ</a:t>
            </a:r>
            <a:endParaRPr lang="en-US" sz="1600" dirty="0"/>
          </a:p>
        </p:txBody>
      </p:sp>
      <p:sp>
        <p:nvSpPr>
          <p:cNvPr id="13" name="Shape 11"/>
          <p:cNvSpPr/>
          <p:nvPr/>
        </p:nvSpPr>
        <p:spPr>
          <a:xfrm>
            <a:off x="6208776" y="1764792"/>
            <a:ext cx="5431536" cy="1975104"/>
          </a:xfrm>
          <a:prstGeom prst="roundRect">
            <a:avLst>
              <a:gd name="adj" fmla="val 4630"/>
            </a:avLst>
          </a:prstGeom>
          <a:solidFill>
            <a:srgbClr val="E9F4F3"/>
          </a:solidFill>
          <a:ln w="12700">
            <a:solidFill>
              <a:srgbClr val="E9F4F3">
                <a:alpha val="0"/>
              </a:srgbClr>
            </a:solidFill>
            <a:prstDash val="solid"/>
          </a:ln>
        </p:spPr>
      </p:sp>
      <p:sp>
        <p:nvSpPr>
          <p:cNvPr id="14" name="Shape 12"/>
          <p:cNvSpPr/>
          <p:nvPr/>
        </p:nvSpPr>
        <p:spPr>
          <a:xfrm>
            <a:off x="6208776" y="1764792"/>
            <a:ext cx="62179" cy="1975104"/>
          </a:xfrm>
          <a:prstGeom prst="rect">
            <a:avLst/>
          </a:prstGeom>
          <a:solidFill>
            <a:srgbClr val="C75D75"/>
          </a:solidFill>
          <a:ln w="12700">
            <a:solidFill>
              <a:srgbClr val="C75D75">
                <a:alpha val="0"/>
              </a:srgbClr>
            </a:solidFill>
            <a:prstDash val="solid"/>
          </a:ln>
        </p:spPr>
      </p:sp>
      <p:sp>
        <p:nvSpPr>
          <p:cNvPr id="15" name="Text 13"/>
          <p:cNvSpPr/>
          <p:nvPr/>
        </p:nvSpPr>
        <p:spPr>
          <a:xfrm>
            <a:off x="6428232" y="1911096"/>
            <a:ext cx="5029200" cy="292608"/>
          </a:xfrm>
          <a:prstGeom prst="rect">
            <a:avLst/>
          </a:prstGeom>
          <a:noFill/>
          <a:ln/>
        </p:spPr>
        <p:txBody>
          <a:bodyPr wrap="square" lIns="0" tIns="0" rIns="0" bIns="0" rtlCol="0" anchor="ctr">
            <a:normAutofit/>
          </a:bodyPr>
          <a:lstStyle/>
          <a:p>
            <a:pPr indent="0" marL="0">
              <a:buNone/>
            </a:pPr>
            <a:r>
              <a:rPr lang="en-US" sz="1500" b="1" dirty="0">
                <a:solidFill>
                  <a:srgbClr val="C75D75"/>
                </a:solidFill>
                <a:latin typeface="Aptos" pitchFamily="34" charset="0"/>
                <a:ea typeface="Aptos" pitchFamily="34" charset="-122"/>
                <a:cs typeface="Aptos" pitchFamily="34" charset="-120"/>
              </a:rPr>
              <a:t>Gaussian Naive Bayes (GNB)</a:t>
            </a:r>
            <a:endParaRPr lang="en-US" sz="1500" dirty="0"/>
          </a:p>
        </p:txBody>
      </p:sp>
      <p:sp>
        <p:nvSpPr>
          <p:cNvPr id="16" name="Text 14"/>
          <p:cNvSpPr/>
          <p:nvPr/>
        </p:nvSpPr>
        <p:spPr>
          <a:xfrm>
            <a:off x="6428232" y="2295144"/>
            <a:ext cx="5038344" cy="1307592"/>
          </a:xfrm>
          <a:prstGeom prst="rect">
            <a:avLst/>
          </a:prstGeom>
          <a:noFill/>
          <a:ln/>
        </p:spPr>
        <p:txBody>
          <a:bodyPr wrap="square" lIns="0" tIns="0" rIns="0" bIns="0" rtlCol="0" anchor="t">
            <a:normAutofit/>
          </a:bodyPr>
          <a:lstStyle/>
          <a:p>
            <a:pPr indent="0" marL="0">
              <a:buNone/>
            </a:pPr>
            <a:r>
              <a:rPr lang="en-US" sz="1240" dirty="0">
                <a:solidFill>
                  <a:srgbClr val="1D3540"/>
                </a:solidFill>
                <a:latin typeface="Aptos" pitchFamily="34" charset="0"/>
                <a:ea typeface="Aptos" pitchFamily="34" charset="-122"/>
                <a:cs typeface="Aptos" pitchFamily="34" charset="-120"/>
              </a:rPr>
              <a:t>Starts from class priors and combines Gaussian feature likelihoods using Bayes’ theorem. It assumes the features are independent once the class is known.</a:t>
            </a:r>
            <a:endParaRPr lang="en-US" sz="1240" dirty="0"/>
          </a:p>
        </p:txBody>
      </p:sp>
      <p:sp>
        <p:nvSpPr>
          <p:cNvPr id="17" name="Text 15"/>
          <p:cNvSpPr/>
          <p:nvPr/>
        </p:nvSpPr>
        <p:spPr>
          <a:xfrm>
            <a:off x="6419088" y="3182112"/>
            <a:ext cx="5029200" cy="256032"/>
          </a:xfrm>
          <a:prstGeom prst="rect">
            <a:avLst/>
          </a:prstGeom>
          <a:noFill/>
          <a:ln/>
        </p:spPr>
        <p:txBody>
          <a:bodyPr wrap="square" lIns="0" tIns="0" rIns="0" bIns="0" rtlCol="0" anchor="ctr">
            <a:normAutofit/>
          </a:bodyPr>
          <a:lstStyle/>
          <a:p>
            <a:pPr indent="0" marL="0">
              <a:buNone/>
            </a:pPr>
            <a:r>
              <a:rPr lang="en-US" sz="1520" b="1" dirty="0">
                <a:solidFill>
                  <a:srgbClr val="C75D75"/>
                </a:solidFill>
                <a:latin typeface="Aptos" pitchFamily="34" charset="0"/>
                <a:ea typeface="Aptos" pitchFamily="34" charset="-122"/>
                <a:cs typeface="Aptos" pitchFamily="34" charset="-120"/>
              </a:rPr>
              <a:t>P(class | x) ∝ P(class) × ∏ P(xⱼ | class)</a:t>
            </a:r>
            <a:endParaRPr lang="en-US" sz="1520" dirty="0"/>
          </a:p>
        </p:txBody>
      </p:sp>
      <p:sp>
        <p:nvSpPr>
          <p:cNvPr id="18" name="Text 16"/>
          <p:cNvSpPr/>
          <p:nvPr/>
        </p:nvSpPr>
        <p:spPr>
          <a:xfrm>
            <a:off x="566928" y="4142232"/>
            <a:ext cx="7498080" cy="228600"/>
          </a:xfrm>
          <a:prstGeom prst="rect">
            <a:avLst/>
          </a:prstGeom>
          <a:noFill/>
          <a:ln/>
        </p:spPr>
        <p:txBody>
          <a:bodyPr wrap="square" lIns="0" tIns="0" rIns="0" bIns="0" rtlCol="0" anchor="ctr">
            <a:normAutofit/>
          </a:bodyPr>
          <a:lstStyle/>
          <a:p>
            <a:pPr indent="0" marL="0">
              <a:buNone/>
            </a:pPr>
            <a:r>
              <a:rPr lang="en-US" sz="1110" b="1" spc="160" kern="0" dirty="0">
                <a:solidFill>
                  <a:srgbClr val="16778A"/>
                </a:solidFill>
                <a:latin typeface="Aptos" pitchFamily="34" charset="0"/>
                <a:ea typeface="Aptos" pitchFamily="34" charset="-122"/>
                <a:cs typeface="Aptos" pitchFamily="34" charset="-120"/>
              </a:rPr>
              <a:t>EXPERIMENTAL PIPELINE</a:t>
            </a:r>
            <a:endParaRPr lang="en-US" sz="1110" dirty="0"/>
          </a:p>
        </p:txBody>
      </p:sp>
      <p:sp>
        <p:nvSpPr>
          <p:cNvPr id="19" name="Shape 17"/>
          <p:cNvSpPr/>
          <p:nvPr/>
        </p:nvSpPr>
        <p:spPr>
          <a:xfrm>
            <a:off x="548640" y="4517136"/>
            <a:ext cx="2670048" cy="1307592"/>
          </a:xfrm>
          <a:prstGeom prst="roundRect">
            <a:avLst>
              <a:gd name="adj" fmla="val 8392"/>
            </a:avLst>
          </a:prstGeom>
          <a:solidFill>
            <a:srgbClr val="EAF4F3"/>
          </a:solidFill>
          <a:ln w="12700">
            <a:solidFill>
              <a:srgbClr val="EAF4F3">
                <a:alpha val="0"/>
              </a:srgbClr>
            </a:solidFill>
            <a:prstDash val="solid"/>
          </a:ln>
        </p:spPr>
      </p:sp>
      <p:sp>
        <p:nvSpPr>
          <p:cNvPr id="20" name="Shape 18"/>
          <p:cNvSpPr/>
          <p:nvPr/>
        </p:nvSpPr>
        <p:spPr>
          <a:xfrm>
            <a:off x="704088" y="4645152"/>
            <a:ext cx="320040" cy="320040"/>
          </a:xfrm>
          <a:prstGeom prst="ellipse">
            <a:avLst/>
          </a:prstGeom>
          <a:solidFill>
            <a:srgbClr val="16778A"/>
          </a:solidFill>
          <a:ln w="12700">
            <a:solidFill>
              <a:srgbClr val="16778A"/>
            </a:solidFill>
            <a:prstDash val="solid"/>
          </a:ln>
        </p:spPr>
      </p:sp>
      <p:sp>
        <p:nvSpPr>
          <p:cNvPr id="21" name="Text 19"/>
          <p:cNvSpPr/>
          <p:nvPr/>
        </p:nvSpPr>
        <p:spPr>
          <a:xfrm>
            <a:off x="704088" y="4672584"/>
            <a:ext cx="320040" cy="2011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22" name="Text 20"/>
          <p:cNvSpPr/>
          <p:nvPr/>
        </p:nvSpPr>
        <p:spPr>
          <a:xfrm>
            <a:off x="1115568" y="4645152"/>
            <a:ext cx="1975104" cy="329184"/>
          </a:xfrm>
          <a:prstGeom prst="rect">
            <a:avLst/>
          </a:prstGeom>
          <a:noFill/>
          <a:ln/>
        </p:spPr>
        <p:txBody>
          <a:bodyPr wrap="square" lIns="0" tIns="0" rIns="0" bIns="0" rtlCol="0" anchor="ctr">
            <a:normAutofit/>
          </a:bodyPr>
          <a:lstStyle/>
          <a:p>
            <a:pPr indent="0" marL="0">
              <a:buNone/>
            </a:pPr>
            <a:r>
              <a:rPr lang="en-US" sz="1400" b="1" dirty="0">
                <a:solidFill>
                  <a:srgbClr val="1D3540"/>
                </a:solidFill>
                <a:latin typeface="Aptos" pitchFamily="34" charset="0"/>
                <a:ea typeface="Aptos" pitchFamily="34" charset="-122"/>
                <a:cs typeface="Aptos" pitchFamily="34" charset="-120"/>
              </a:rPr>
              <a:t>Load and explore</a:t>
            </a:r>
            <a:endParaRPr lang="en-US" sz="1400" dirty="0"/>
          </a:p>
        </p:txBody>
      </p:sp>
      <p:sp>
        <p:nvSpPr>
          <p:cNvPr id="23" name="Text 21"/>
          <p:cNvSpPr/>
          <p:nvPr/>
        </p:nvSpPr>
        <p:spPr>
          <a:xfrm>
            <a:off x="731520" y="5084064"/>
            <a:ext cx="2359152" cy="502920"/>
          </a:xfrm>
          <a:prstGeom prst="rect">
            <a:avLst/>
          </a:prstGeom>
          <a:noFill/>
          <a:ln/>
        </p:spPr>
        <p:txBody>
          <a:bodyPr wrap="square" lIns="0" tIns="0" rIns="0" bIns="0" rtlCol="0" anchor="t">
            <a:normAutofit/>
          </a:bodyPr>
          <a:lstStyle/>
          <a:p>
            <a:pPr indent="0" marL="0">
              <a:buNone/>
            </a:pPr>
            <a:r>
              <a:rPr lang="en-US" sz="1090" dirty="0">
                <a:solidFill>
                  <a:srgbClr val="61757B"/>
                </a:solidFill>
                <a:latin typeface="Aptos" pitchFamily="34" charset="0"/>
                <a:ea typeface="Aptos" pitchFamily="34" charset="-122"/>
                <a:cs typeface="Aptos" pitchFamily="34" charset="-120"/>
              </a:rPr>
              <a:t>569 × 30 table; plots and correlation</a:t>
            </a:r>
            <a:endParaRPr lang="en-US" sz="1090" dirty="0"/>
          </a:p>
        </p:txBody>
      </p:sp>
      <p:sp>
        <p:nvSpPr>
          <p:cNvPr id="24" name="Shape 22"/>
          <p:cNvSpPr/>
          <p:nvPr/>
        </p:nvSpPr>
        <p:spPr>
          <a:xfrm>
            <a:off x="3355848" y="4517136"/>
            <a:ext cx="2670048" cy="1307592"/>
          </a:xfrm>
          <a:prstGeom prst="roundRect">
            <a:avLst>
              <a:gd name="adj" fmla="val 8392"/>
            </a:avLst>
          </a:prstGeom>
          <a:solidFill>
            <a:srgbClr val="F3F7F7"/>
          </a:solidFill>
          <a:ln w="12700">
            <a:solidFill>
              <a:srgbClr val="F3F7F7">
                <a:alpha val="0"/>
              </a:srgbClr>
            </a:solidFill>
            <a:prstDash val="solid"/>
          </a:ln>
        </p:spPr>
      </p:sp>
      <p:sp>
        <p:nvSpPr>
          <p:cNvPr id="25" name="Shape 23"/>
          <p:cNvSpPr/>
          <p:nvPr/>
        </p:nvSpPr>
        <p:spPr>
          <a:xfrm>
            <a:off x="3511296" y="4645152"/>
            <a:ext cx="320040" cy="320040"/>
          </a:xfrm>
          <a:prstGeom prst="ellipse">
            <a:avLst/>
          </a:prstGeom>
          <a:solidFill>
            <a:srgbClr val="16778A"/>
          </a:solidFill>
          <a:ln w="12700">
            <a:solidFill>
              <a:srgbClr val="16778A"/>
            </a:solidFill>
            <a:prstDash val="solid"/>
          </a:ln>
        </p:spPr>
      </p:sp>
      <p:sp>
        <p:nvSpPr>
          <p:cNvPr id="26" name="Text 24"/>
          <p:cNvSpPr/>
          <p:nvPr/>
        </p:nvSpPr>
        <p:spPr>
          <a:xfrm>
            <a:off x="3511296" y="4672584"/>
            <a:ext cx="320040" cy="2011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27" name="Text 25"/>
          <p:cNvSpPr/>
          <p:nvPr/>
        </p:nvSpPr>
        <p:spPr>
          <a:xfrm>
            <a:off x="3922776" y="4645152"/>
            <a:ext cx="1975104" cy="329184"/>
          </a:xfrm>
          <a:prstGeom prst="rect">
            <a:avLst/>
          </a:prstGeom>
          <a:noFill/>
          <a:ln/>
        </p:spPr>
        <p:txBody>
          <a:bodyPr wrap="square" lIns="0" tIns="0" rIns="0" bIns="0" rtlCol="0" anchor="ctr">
            <a:normAutofit/>
          </a:bodyPr>
          <a:lstStyle/>
          <a:p>
            <a:pPr indent="0" marL="0">
              <a:buNone/>
            </a:pPr>
            <a:r>
              <a:rPr lang="en-US" sz="1400" b="1" dirty="0">
                <a:solidFill>
                  <a:srgbClr val="1D3540"/>
                </a:solidFill>
                <a:latin typeface="Aptos" pitchFamily="34" charset="0"/>
                <a:ea typeface="Aptos" pitchFamily="34" charset="-122"/>
                <a:cs typeface="Aptos" pitchFamily="34" charset="-120"/>
              </a:rPr>
              <a:t>Stratified split</a:t>
            </a:r>
            <a:endParaRPr lang="en-US" sz="1400" dirty="0"/>
          </a:p>
        </p:txBody>
      </p:sp>
      <p:sp>
        <p:nvSpPr>
          <p:cNvPr id="28" name="Text 26"/>
          <p:cNvSpPr/>
          <p:nvPr/>
        </p:nvSpPr>
        <p:spPr>
          <a:xfrm>
            <a:off x="3538728" y="5084064"/>
            <a:ext cx="2359152" cy="502920"/>
          </a:xfrm>
          <a:prstGeom prst="rect">
            <a:avLst/>
          </a:prstGeom>
          <a:noFill/>
          <a:ln/>
        </p:spPr>
        <p:txBody>
          <a:bodyPr wrap="square" lIns="0" tIns="0" rIns="0" bIns="0" rtlCol="0" anchor="t">
            <a:normAutofit/>
          </a:bodyPr>
          <a:lstStyle/>
          <a:p>
            <a:pPr indent="0" marL="0">
              <a:buNone/>
            </a:pPr>
            <a:r>
              <a:rPr lang="en-US" sz="1090" dirty="0">
                <a:solidFill>
                  <a:srgbClr val="61757B"/>
                </a:solidFill>
                <a:latin typeface="Aptos" pitchFamily="34" charset="0"/>
                <a:ea typeface="Aptos" pitchFamily="34" charset="-122"/>
                <a:cs typeface="Aptos" pitchFamily="34" charset="-120"/>
              </a:rPr>
              <a:t>455 train / 114 test (80:20)</a:t>
            </a:r>
            <a:endParaRPr lang="en-US" sz="1090" dirty="0"/>
          </a:p>
        </p:txBody>
      </p:sp>
      <p:sp>
        <p:nvSpPr>
          <p:cNvPr id="29" name="Shape 27"/>
          <p:cNvSpPr/>
          <p:nvPr/>
        </p:nvSpPr>
        <p:spPr>
          <a:xfrm>
            <a:off x="6163056" y="4517136"/>
            <a:ext cx="2670048" cy="1307592"/>
          </a:xfrm>
          <a:prstGeom prst="roundRect">
            <a:avLst>
              <a:gd name="adj" fmla="val 8392"/>
            </a:avLst>
          </a:prstGeom>
          <a:solidFill>
            <a:srgbClr val="EAF4F3"/>
          </a:solidFill>
          <a:ln w="12700">
            <a:solidFill>
              <a:srgbClr val="EAF4F3">
                <a:alpha val="0"/>
              </a:srgbClr>
            </a:solidFill>
            <a:prstDash val="solid"/>
          </a:ln>
        </p:spPr>
      </p:sp>
      <p:sp>
        <p:nvSpPr>
          <p:cNvPr id="30" name="Shape 28"/>
          <p:cNvSpPr/>
          <p:nvPr/>
        </p:nvSpPr>
        <p:spPr>
          <a:xfrm>
            <a:off x="6318504" y="4645152"/>
            <a:ext cx="320040" cy="320040"/>
          </a:xfrm>
          <a:prstGeom prst="ellipse">
            <a:avLst/>
          </a:prstGeom>
          <a:solidFill>
            <a:srgbClr val="16778A"/>
          </a:solidFill>
          <a:ln w="12700">
            <a:solidFill>
              <a:srgbClr val="16778A"/>
            </a:solidFill>
            <a:prstDash val="solid"/>
          </a:ln>
        </p:spPr>
      </p:sp>
      <p:sp>
        <p:nvSpPr>
          <p:cNvPr id="31" name="Text 29"/>
          <p:cNvSpPr/>
          <p:nvPr/>
        </p:nvSpPr>
        <p:spPr>
          <a:xfrm>
            <a:off x="6318504" y="4672584"/>
            <a:ext cx="320040" cy="2011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32" name="Text 30"/>
          <p:cNvSpPr/>
          <p:nvPr/>
        </p:nvSpPr>
        <p:spPr>
          <a:xfrm>
            <a:off x="6729984" y="4645152"/>
            <a:ext cx="1975104" cy="329184"/>
          </a:xfrm>
          <a:prstGeom prst="rect">
            <a:avLst/>
          </a:prstGeom>
          <a:noFill/>
          <a:ln/>
        </p:spPr>
        <p:txBody>
          <a:bodyPr wrap="square" lIns="0" tIns="0" rIns="0" bIns="0" rtlCol="0" anchor="ctr">
            <a:normAutofit/>
          </a:bodyPr>
          <a:lstStyle/>
          <a:p>
            <a:pPr indent="0" marL="0">
              <a:buNone/>
            </a:pPr>
            <a:r>
              <a:rPr lang="en-US" sz="1400" b="1" dirty="0">
                <a:solidFill>
                  <a:srgbClr val="1D3540"/>
                </a:solidFill>
                <a:latin typeface="Aptos" pitchFamily="34" charset="0"/>
                <a:ea typeface="Aptos" pitchFamily="34" charset="-122"/>
                <a:cs typeface="Aptos" pitchFamily="34" charset="-120"/>
              </a:rPr>
              <a:t>Scale safely</a:t>
            </a:r>
            <a:endParaRPr lang="en-US" sz="1400" dirty="0"/>
          </a:p>
        </p:txBody>
      </p:sp>
      <p:sp>
        <p:nvSpPr>
          <p:cNvPr id="33" name="Text 31"/>
          <p:cNvSpPr/>
          <p:nvPr/>
        </p:nvSpPr>
        <p:spPr>
          <a:xfrm>
            <a:off x="6345936" y="5084064"/>
            <a:ext cx="2359152" cy="502920"/>
          </a:xfrm>
          <a:prstGeom prst="rect">
            <a:avLst/>
          </a:prstGeom>
          <a:noFill/>
          <a:ln/>
        </p:spPr>
        <p:txBody>
          <a:bodyPr wrap="square" lIns="0" tIns="0" rIns="0" bIns="0" rtlCol="0" anchor="t">
            <a:normAutofit/>
          </a:bodyPr>
          <a:lstStyle/>
          <a:p>
            <a:pPr indent="0" marL="0">
              <a:buNone/>
            </a:pPr>
            <a:r>
              <a:rPr lang="en-US" sz="1090" dirty="0">
                <a:solidFill>
                  <a:srgbClr val="61757B"/>
                </a:solidFill>
                <a:latin typeface="Aptos" pitchFamily="34" charset="0"/>
                <a:ea typeface="Aptos" pitchFamily="34" charset="-122"/>
                <a:cs typeface="Aptos" pitchFamily="34" charset="-120"/>
              </a:rPr>
              <a:t>Fit StandardScaler on training only</a:t>
            </a:r>
            <a:endParaRPr lang="en-US" sz="1090" dirty="0"/>
          </a:p>
        </p:txBody>
      </p:sp>
      <p:sp>
        <p:nvSpPr>
          <p:cNvPr id="34" name="Shape 32"/>
          <p:cNvSpPr/>
          <p:nvPr/>
        </p:nvSpPr>
        <p:spPr>
          <a:xfrm>
            <a:off x="8970264" y="4517136"/>
            <a:ext cx="2670048" cy="1307592"/>
          </a:xfrm>
          <a:prstGeom prst="roundRect">
            <a:avLst>
              <a:gd name="adj" fmla="val 8392"/>
            </a:avLst>
          </a:prstGeom>
          <a:solidFill>
            <a:srgbClr val="F3F7F7"/>
          </a:solidFill>
          <a:ln w="12700">
            <a:solidFill>
              <a:srgbClr val="F3F7F7">
                <a:alpha val="0"/>
              </a:srgbClr>
            </a:solidFill>
            <a:prstDash val="solid"/>
          </a:ln>
        </p:spPr>
      </p:sp>
      <p:sp>
        <p:nvSpPr>
          <p:cNvPr id="35" name="Shape 33"/>
          <p:cNvSpPr/>
          <p:nvPr/>
        </p:nvSpPr>
        <p:spPr>
          <a:xfrm>
            <a:off x="9125712" y="4645152"/>
            <a:ext cx="320040" cy="320040"/>
          </a:xfrm>
          <a:prstGeom prst="ellipse">
            <a:avLst/>
          </a:prstGeom>
          <a:solidFill>
            <a:srgbClr val="16778A"/>
          </a:solidFill>
          <a:ln w="12700">
            <a:solidFill>
              <a:srgbClr val="16778A"/>
            </a:solidFill>
            <a:prstDash val="solid"/>
          </a:ln>
        </p:spPr>
      </p:sp>
      <p:sp>
        <p:nvSpPr>
          <p:cNvPr id="36" name="Text 34"/>
          <p:cNvSpPr/>
          <p:nvPr/>
        </p:nvSpPr>
        <p:spPr>
          <a:xfrm>
            <a:off x="9125712" y="4672584"/>
            <a:ext cx="320040" cy="2011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7" name="Text 35"/>
          <p:cNvSpPr/>
          <p:nvPr/>
        </p:nvSpPr>
        <p:spPr>
          <a:xfrm>
            <a:off x="9537192" y="4645152"/>
            <a:ext cx="1975104" cy="329184"/>
          </a:xfrm>
          <a:prstGeom prst="rect">
            <a:avLst/>
          </a:prstGeom>
          <a:noFill/>
          <a:ln/>
        </p:spPr>
        <p:txBody>
          <a:bodyPr wrap="square" lIns="0" tIns="0" rIns="0" bIns="0" rtlCol="0" anchor="ctr">
            <a:normAutofit/>
          </a:bodyPr>
          <a:lstStyle/>
          <a:p>
            <a:pPr indent="0" marL="0">
              <a:buNone/>
            </a:pPr>
            <a:r>
              <a:rPr lang="en-US" sz="1400" b="1" dirty="0">
                <a:solidFill>
                  <a:srgbClr val="1D3540"/>
                </a:solidFill>
                <a:latin typeface="Aptos" pitchFamily="34" charset="0"/>
                <a:ea typeface="Aptos" pitchFamily="34" charset="-122"/>
                <a:cs typeface="Aptos" pitchFamily="34" charset="-120"/>
              </a:rPr>
              <a:t>Train + evaluate</a:t>
            </a:r>
            <a:endParaRPr lang="en-US" sz="1400" dirty="0"/>
          </a:p>
        </p:txBody>
      </p:sp>
      <p:sp>
        <p:nvSpPr>
          <p:cNvPr id="38" name="Text 36"/>
          <p:cNvSpPr/>
          <p:nvPr/>
        </p:nvSpPr>
        <p:spPr>
          <a:xfrm>
            <a:off x="9153144" y="5084064"/>
            <a:ext cx="2359152" cy="502920"/>
          </a:xfrm>
          <a:prstGeom prst="rect">
            <a:avLst/>
          </a:prstGeom>
          <a:noFill/>
          <a:ln/>
        </p:spPr>
        <p:txBody>
          <a:bodyPr wrap="square" lIns="0" tIns="0" rIns="0" bIns="0" rtlCol="0" anchor="t">
            <a:normAutofit/>
          </a:bodyPr>
          <a:lstStyle/>
          <a:p>
            <a:pPr indent="0" marL="0">
              <a:buNone/>
            </a:pPr>
            <a:r>
              <a:rPr lang="en-US" sz="1090" dirty="0">
                <a:solidFill>
                  <a:srgbClr val="61757B"/>
                </a:solidFill>
                <a:latin typeface="Aptos" pitchFamily="34" charset="0"/>
                <a:ea typeface="Aptos" pitchFamily="34" charset="-122"/>
                <a:cs typeface="Aptos" pitchFamily="34" charset="-120"/>
              </a:rPr>
              <a:t>Confusion matrix, AUC and 5-fold CV</a:t>
            </a:r>
            <a:endParaRPr lang="en-US" sz="109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3  |  REVIEW 1 RECAP</a:t>
            </a:r>
            <a:endParaRPr lang="en-US" sz="1130" dirty="0"/>
          </a:p>
        </p:txBody>
      </p:sp>
      <p:sp>
        <p:nvSpPr>
          <p:cNvPr id="3" name="Text 1"/>
          <p:cNvSpPr/>
          <p:nvPr/>
        </p:nvSpPr>
        <p:spPr>
          <a:xfrm>
            <a:off x="530352" y="630936"/>
            <a:ext cx="11109960" cy="530352"/>
          </a:xfrm>
          <a:prstGeom prst="rect">
            <a:avLst/>
          </a:prstGeom>
          <a:noFill/>
          <a:ln/>
        </p:spPr>
        <p:txBody>
          <a:bodyPr wrap="square" lIns="0" tIns="0" rIns="0" bIns="0" rtlCol="0" anchor="ctr">
            <a:normAutofit/>
          </a:bodyPr>
          <a:lstStyle/>
          <a:p>
            <a:r>
              <a:rPr sz="2900"/>
              <a:t>Review 1 results: Logistic Regression outperformed Naive Bayes</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evaluated both classifiers on the same 114 unseen samples. Precision and recall here use benign as the positive class.</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4</a:t>
            </a:r>
            <a:endParaRPr lang="en-US" sz="930" dirty="0"/>
          </a:p>
        </p:txBody>
      </p:sp>
      <p:sp>
        <p:nvSpPr>
          <p:cNvPr id="9" name="Shape 6"/>
          <p:cNvSpPr/>
          <p:nvPr/>
        </p:nvSpPr>
        <p:spPr>
          <a:xfrm>
            <a:off x="7635240" y="1783080"/>
            <a:ext cx="4023360" cy="1014984"/>
          </a:xfrm>
          <a:prstGeom prst="roundRect">
            <a:avLst>
              <a:gd name="adj" fmla="val 10811"/>
            </a:avLst>
          </a:prstGeom>
          <a:solidFill>
            <a:srgbClr val="E9F4F3"/>
          </a:solidFill>
          <a:ln w="12700">
            <a:solidFill>
              <a:srgbClr val="E9F4F3">
                <a:alpha val="0"/>
              </a:srgbClr>
            </a:solidFill>
            <a:prstDash val="solid"/>
          </a:ln>
        </p:spPr>
        <p:txBody>
          <a:bodyPr/>
          <a:p/>
        </p:txBody>
      </p:sp>
      <p:sp>
        <p:nvSpPr>
          <p:cNvPr id="10" name="Text 7"/>
          <p:cNvSpPr/>
          <p:nvPr/>
        </p:nvSpPr>
        <p:spPr>
          <a:xfrm>
            <a:off x="7836408" y="1975104"/>
            <a:ext cx="3630168" cy="365760"/>
          </a:xfrm>
          <a:prstGeom prst="rect">
            <a:avLst/>
          </a:prstGeom>
          <a:noFill/>
          <a:ln/>
        </p:spPr>
        <p:txBody>
          <a:bodyPr wrap="square" lIns="0" tIns="0" rIns="0" bIns="0" rtlCol="0" anchor="ctr">
            <a:normAutofit/>
          </a:bodyPr>
          <a:lstStyle/>
          <a:p>
            <a:pPr indent="0" marL="0">
              <a:buNone/>
            </a:pPr>
            <a:r>
              <a:rPr lang="en-US" sz="2250" b="1" dirty="0">
                <a:solidFill>
                  <a:srgbClr val="16778A"/>
                </a:solidFill>
                <a:latin typeface="Georgia" pitchFamily="34" charset="0"/>
                <a:ea typeface="Georgia" pitchFamily="34" charset="-122"/>
                <a:cs typeface="Georgia" pitchFamily="34" charset="-120"/>
              </a:rPr>
              <a:t>98.25%  vs  92.98%</a:t>
            </a:r>
            <a:endParaRPr lang="en-US" sz="2250" dirty="0"/>
          </a:p>
        </p:txBody>
      </p:sp>
      <p:sp>
        <p:nvSpPr>
          <p:cNvPr id="11" name="Text 8"/>
          <p:cNvSpPr/>
          <p:nvPr/>
        </p:nvSpPr>
        <p:spPr>
          <a:xfrm>
            <a:off x="7854696" y="2423160"/>
            <a:ext cx="3566160" cy="173736"/>
          </a:xfrm>
          <a:prstGeom prst="rect">
            <a:avLst/>
          </a:prstGeom>
          <a:noFill/>
          <a:ln/>
        </p:spPr>
        <p:txBody>
          <a:bodyPr wrap="square" lIns="0" tIns="0" rIns="0" bIns="0" rtlCol="0" anchor="ctr">
            <a:normAutofit/>
          </a:bodyPr>
          <a:lstStyle/>
          <a:p>
            <a:r>
              <a:rPr sz="1120"/>
              <a:t>Accuracy on the 114-sample test set (LR vs GNB)</a:t>
            </a:r>
          </a:p>
        </p:txBody>
      </p:sp>
      <p:sp>
        <p:nvSpPr>
          <p:cNvPr id="12" name="Shape 9"/>
          <p:cNvSpPr/>
          <p:nvPr/>
        </p:nvSpPr>
        <p:spPr>
          <a:xfrm>
            <a:off x="7635240" y="2971800"/>
            <a:ext cx="4023360" cy="1014984"/>
          </a:xfrm>
          <a:prstGeom prst="roundRect">
            <a:avLst>
              <a:gd name="adj" fmla="val 10811"/>
            </a:avLst>
          </a:prstGeom>
          <a:solidFill>
            <a:srgbClr val="FAEFF0"/>
          </a:solidFill>
          <a:ln w="12700">
            <a:solidFill>
              <a:srgbClr val="FAEFF0">
                <a:alpha val="0"/>
              </a:srgbClr>
            </a:solidFill>
            <a:prstDash val="solid"/>
          </a:ln>
        </p:spPr>
        <p:txBody>
          <a:bodyPr/>
          <a:p/>
        </p:txBody>
      </p:sp>
      <p:sp>
        <p:nvSpPr>
          <p:cNvPr id="13" name="Text 10"/>
          <p:cNvSpPr/>
          <p:nvPr/>
        </p:nvSpPr>
        <p:spPr>
          <a:xfrm>
            <a:off x="7836408" y="3163824"/>
            <a:ext cx="3630168" cy="347472"/>
          </a:xfrm>
          <a:prstGeom prst="rect">
            <a:avLst/>
          </a:prstGeom>
          <a:noFill/>
          <a:ln/>
        </p:spPr>
        <p:txBody>
          <a:bodyPr wrap="square" lIns="0" tIns="0" rIns="0" bIns="0" rtlCol="0" anchor="ctr">
            <a:normAutofit/>
          </a:bodyPr>
          <a:lstStyle/>
          <a:p>
            <a:pPr indent="0" marL="0">
              <a:buNone/>
            </a:pPr>
            <a:r>
              <a:rPr lang="en-US" sz="2400" b="1" dirty="0">
                <a:solidFill>
                  <a:srgbClr val="C75D75"/>
                </a:solidFill>
                <a:latin typeface="Georgia" pitchFamily="34" charset="0"/>
                <a:ea typeface="Georgia" pitchFamily="34" charset="-122"/>
                <a:cs typeface="Georgia" pitchFamily="34" charset="-120"/>
              </a:rPr>
              <a:t>1  vs  4</a:t>
            </a:r>
            <a:endParaRPr lang="en-US" sz="2400" dirty="0"/>
          </a:p>
        </p:txBody>
      </p:sp>
      <p:sp>
        <p:nvSpPr>
          <p:cNvPr id="14" name="Text 11"/>
          <p:cNvSpPr/>
          <p:nvPr/>
        </p:nvSpPr>
        <p:spPr>
          <a:xfrm>
            <a:off x="7854696" y="3602736"/>
            <a:ext cx="3566160" cy="182880"/>
          </a:xfrm>
          <a:prstGeom prst="rect">
            <a:avLst/>
          </a:prstGeom>
          <a:noFill/>
          <a:ln/>
        </p:spPr>
        <p:txBody>
          <a:bodyPr wrap="square" lIns="0" tIns="0" rIns="0" bIns="0" rtlCol="0" anchor="ctr">
            <a:normAutofit/>
          </a:bodyPr>
          <a:lstStyle/>
          <a:p>
            <a:r>
              <a:rPr sz="1120"/>
              <a:t>Malignant tumours wrongly predicted as benign, out of 42</a:t>
            </a:r>
          </a:p>
        </p:txBody>
      </p:sp>
      <p:sp>
        <p:nvSpPr>
          <p:cNvPr id="15" name="Shape 12"/>
          <p:cNvSpPr/>
          <p:nvPr/>
        </p:nvSpPr>
        <p:spPr>
          <a:xfrm>
            <a:off x="7635240" y="4169664"/>
            <a:ext cx="4023360" cy="1078992"/>
          </a:xfrm>
          <a:prstGeom prst="roundRect">
            <a:avLst>
              <a:gd name="adj" fmla="val 10169"/>
            </a:avLst>
          </a:prstGeom>
          <a:solidFill>
            <a:srgbClr val="E9F4F3"/>
          </a:solidFill>
          <a:ln w="12700">
            <a:solidFill>
              <a:srgbClr val="E9F4F3">
                <a:alpha val="0"/>
              </a:srgbClr>
            </a:solidFill>
            <a:prstDash val="solid"/>
          </a:ln>
        </p:spPr>
        <p:txBody>
          <a:bodyPr/>
          <a:p/>
        </p:txBody>
      </p:sp>
      <p:sp>
        <p:nvSpPr>
          <p:cNvPr id="16" name="Text 13"/>
          <p:cNvSpPr/>
          <p:nvPr/>
        </p:nvSpPr>
        <p:spPr>
          <a:xfrm>
            <a:off x="7827264" y="4096512"/>
            <a:ext cx="3639312" cy="237744"/>
          </a:xfrm>
          <a:prstGeom prst="rect">
            <a:avLst/>
          </a:prstGeom>
          <a:noFill/>
          <a:ln/>
        </p:spPr>
        <p:txBody>
          <a:bodyPr wrap="square" lIns="0" tIns="0" rIns="0" bIns="0" rtlCol="0" anchor="ctr">
            <a:normAutofit/>
          </a:bodyPr>
          <a:lstStyle/>
          <a:p>
            <a:r>
              <a:rPr sz="1300"/>
              <a:t>WHY NAIVE BAYES PERFORMED WORSE</a:t>
            </a:r>
          </a:p>
        </p:txBody>
      </p:sp>
      <p:sp>
        <p:nvSpPr>
          <p:cNvPr id="17" name="Text 14"/>
          <p:cNvSpPr/>
          <p:nvPr/>
        </p:nvSpPr>
        <p:spPr>
          <a:xfrm>
            <a:off x="7827264" y="4498848"/>
            <a:ext cx="3621024" cy="685800"/>
          </a:xfrm>
          <a:prstGeom prst="rect">
            <a:avLst/>
          </a:prstGeom>
          <a:noFill/>
          <a:ln/>
        </p:spPr>
        <p:txBody>
          <a:bodyPr wrap="square" lIns="0" tIns="0" rIns="0" bIns="0" rtlCol="0" anchor="ctr">
            <a:normAutofit/>
          </a:bodyPr>
          <a:lstStyle/>
          <a:p>
            <a:r>
              <a:rPr sz="1300"/>
              <a:t>Radius, perimeter and area are strongly correlated (r ≈ 0.99). This challenges Naive Bayes’ assumption that the features provide independent evidence.</a:t>
            </a:r>
          </a:p>
        </p:txBody>
      </p:sp>
      <p:sp>
        <p:nvSpPr>
          <p:cNvPr id="18" name="Text 15"/>
          <p:cNvSpPr/>
          <p:nvPr/>
        </p:nvSpPr>
        <p:spPr>
          <a:xfrm>
            <a:off x="612648" y="5687568"/>
            <a:ext cx="10853928" cy="411480"/>
          </a:xfrm>
          <a:prstGeom prst="rect">
            <a:avLst/>
          </a:prstGeom>
          <a:noFill/>
          <a:ln/>
        </p:spPr>
        <p:txBody>
          <a:bodyPr wrap="square" lIns="0" tIns="0" rIns="0" bIns="0" rtlCol="0" anchor="ctr">
            <a:normAutofit/>
          </a:bodyPr>
          <a:lstStyle/>
          <a:p>
            <a:r>
              <a:rPr sz="1250"/>
              <a:t>Review 1 conclusion: Logistic Regression achieved higher accuracy (112/114 correct) and missed fewer malignant cases (1 vs 4). The result applies to this dataset and test split.</a:t>
            </a:r>
          </a:p>
        </p:txBody>
      </p:sp>
      <p:pic>
        <p:nvPicPr>
          <p:cNvPr id="19" name="Picture 18" descr="bc_revised_chart.png"/>
          <p:cNvPicPr>
            <a:picLocks noChangeAspect="1"/>
          </p:cNvPicPr>
          <p:nvPr/>
        </p:nvPicPr>
        <p:blipFill>
          <a:blip r:embed="rId4"/>
          <a:stretch>
            <a:fillRect/>
          </a:stretch>
        </p:blipFill>
        <p:spPr>
          <a:xfrm>
            <a:off x="812789" y="1746504"/>
            <a:ext cx="6357133" cy="35753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4  |  FINAL REVIEW EXTENSIONS</a:t>
            </a:r>
            <a:endParaRPr lang="en-US" sz="1130" dirty="0"/>
          </a:p>
        </p:txBody>
      </p:sp>
      <p:sp>
        <p:nvSpPr>
          <p:cNvPr id="3" name="Text 1"/>
          <p:cNvSpPr/>
          <p:nvPr/>
        </p:nvSpPr>
        <p:spPr>
          <a:xfrm>
            <a:off x="530352" y="630936"/>
            <a:ext cx="11109960" cy="640080"/>
          </a:xfrm>
          <a:prstGeom prst="rect">
            <a:avLst/>
          </a:prstGeom>
          <a:noFill/>
          <a:ln/>
        </p:spPr>
        <p:txBody>
          <a:bodyPr wrap="square" lIns="0" tIns="0" rIns="0" bIns="0" rtlCol="0" anchor="ctr">
            <a:normAutofit/>
          </a:bodyPr>
          <a:lstStyle/>
          <a:p>
            <a:r>
              <a:rPr sz="2900"/>
              <a:t>Work completed after Review 1</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After comparing Logistic Regression and Gaussian Naive Bayes, we tested whether the accuracy gap was meaningful, tuned the model, added Random Forest and evaluated probability reliability.</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5</a:t>
            </a:r>
            <a:endParaRPr lang="en-US" sz="930" dirty="0"/>
          </a:p>
        </p:txBody>
      </p:sp>
      <p:sp>
        <p:nvSpPr>
          <p:cNvPr id="8" name="Shape 6"/>
          <p:cNvSpPr/>
          <p:nvPr/>
        </p:nvSpPr>
        <p:spPr>
          <a:xfrm>
            <a:off x="576072" y="1783080"/>
            <a:ext cx="5513832" cy="1874520"/>
          </a:xfrm>
          <a:prstGeom prst="roundRect">
            <a:avLst>
              <a:gd name="adj" fmla="val 5854"/>
            </a:avLst>
          </a:prstGeom>
          <a:solidFill>
            <a:srgbClr val="E8F2F1"/>
          </a:solidFill>
          <a:ln w="12700">
            <a:solidFill>
              <a:srgbClr val="E8F2F1">
                <a:alpha val="0"/>
              </a:srgbClr>
            </a:solidFill>
            <a:prstDash val="solid"/>
          </a:ln>
        </p:spPr>
        <p:txBody>
          <a:bodyPr/>
          <a:p/>
        </p:txBody>
      </p:sp>
      <p:sp>
        <p:nvSpPr>
          <p:cNvPr id="9" name="Shape 7"/>
          <p:cNvSpPr/>
          <p:nvPr/>
        </p:nvSpPr>
        <p:spPr>
          <a:xfrm>
            <a:off x="786384" y="1993392"/>
            <a:ext cx="502920" cy="502920"/>
          </a:xfrm>
          <a:prstGeom prst="ellipse">
            <a:avLst/>
          </a:prstGeom>
          <a:solidFill>
            <a:srgbClr val="16778A"/>
          </a:solidFill>
          <a:ln w="12700">
            <a:solidFill>
              <a:srgbClr val="16778A"/>
            </a:solidFill>
            <a:prstDash val="solid"/>
          </a:ln>
        </p:spPr>
        <p:txBody>
          <a:bodyPr/>
          <a:p/>
        </p:txBody>
      </p:sp>
      <p:sp>
        <p:nvSpPr>
          <p:cNvPr id="10" name="Text 8"/>
          <p:cNvSpPr/>
          <p:nvPr/>
        </p:nvSpPr>
        <p:spPr>
          <a:xfrm>
            <a:off x="786384" y="2084832"/>
            <a:ext cx="502920" cy="2468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01</a:t>
            </a:r>
            <a:endParaRPr lang="en-US" sz="1300" dirty="0"/>
          </a:p>
        </p:txBody>
      </p:sp>
      <p:sp>
        <p:nvSpPr>
          <p:cNvPr id="11" name="Text 9"/>
          <p:cNvSpPr/>
          <p:nvPr/>
        </p:nvSpPr>
        <p:spPr>
          <a:xfrm>
            <a:off x="1444752" y="2039112"/>
            <a:ext cx="4389120" cy="420624"/>
          </a:xfrm>
          <a:prstGeom prst="rect">
            <a:avLst/>
          </a:prstGeom>
          <a:noFill/>
          <a:ln/>
        </p:spPr>
        <p:txBody>
          <a:bodyPr wrap="square" lIns="0" tIns="0" rIns="0" bIns="0" rtlCol="0" anchor="ctr">
            <a:normAutofit/>
          </a:bodyPr>
          <a:lstStyle/>
          <a:p>
            <a:r>
              <a:rPr sz="1750"/>
              <a:t>Tested the accuracy difference</a:t>
            </a:r>
          </a:p>
        </p:txBody>
      </p:sp>
      <p:sp>
        <p:nvSpPr>
          <p:cNvPr id="12" name="Text 10"/>
          <p:cNvSpPr/>
          <p:nvPr/>
        </p:nvSpPr>
        <p:spPr>
          <a:xfrm>
            <a:off x="1444752" y="2551176"/>
            <a:ext cx="4343400" cy="1024128"/>
          </a:xfrm>
          <a:prstGeom prst="rect">
            <a:avLst/>
          </a:prstGeom>
          <a:noFill/>
          <a:ln/>
        </p:spPr>
        <p:txBody>
          <a:bodyPr wrap="square" lIns="0" tIns="0" rIns="0" bIns="0" rtlCol="0" anchor="t">
            <a:normAutofit/>
          </a:bodyPr>
          <a:lstStyle/>
          <a:p>
            <a:r>
              <a:rPr sz="1400"/>
              <a:t>We applied McNemar’s paired test to the same test patients, estimated a 95% bootstrap confidence interval, and cross-checked the result with repeated cross-validation.</a:t>
            </a:r>
          </a:p>
        </p:txBody>
      </p:sp>
      <p:sp>
        <p:nvSpPr>
          <p:cNvPr id="13" name="Shape 11"/>
          <p:cNvSpPr/>
          <p:nvPr/>
        </p:nvSpPr>
        <p:spPr>
          <a:xfrm>
            <a:off x="6318504" y="1783080"/>
            <a:ext cx="5513832" cy="1874520"/>
          </a:xfrm>
          <a:prstGeom prst="roundRect">
            <a:avLst>
              <a:gd name="adj" fmla="val 5854"/>
            </a:avLst>
          </a:prstGeom>
          <a:solidFill>
            <a:srgbClr val="F5F8F8"/>
          </a:solidFill>
          <a:ln w="12700">
            <a:solidFill>
              <a:srgbClr val="F5F8F8">
                <a:alpha val="0"/>
              </a:srgbClr>
            </a:solidFill>
            <a:prstDash val="solid"/>
          </a:ln>
        </p:spPr>
        <p:txBody>
          <a:bodyPr/>
          <a:p/>
        </p:txBody>
      </p:sp>
      <p:sp>
        <p:nvSpPr>
          <p:cNvPr id="14" name="Shape 12"/>
          <p:cNvSpPr/>
          <p:nvPr/>
        </p:nvSpPr>
        <p:spPr>
          <a:xfrm>
            <a:off x="6528816" y="1993392"/>
            <a:ext cx="502920" cy="502920"/>
          </a:xfrm>
          <a:prstGeom prst="ellipse">
            <a:avLst/>
          </a:prstGeom>
          <a:solidFill>
            <a:srgbClr val="C75D75"/>
          </a:solidFill>
          <a:ln w="12700">
            <a:solidFill>
              <a:srgbClr val="C75D75"/>
            </a:solidFill>
            <a:prstDash val="solid"/>
          </a:ln>
        </p:spPr>
        <p:txBody>
          <a:bodyPr/>
          <a:p/>
        </p:txBody>
      </p:sp>
      <p:sp>
        <p:nvSpPr>
          <p:cNvPr id="15" name="Text 13"/>
          <p:cNvSpPr/>
          <p:nvPr/>
        </p:nvSpPr>
        <p:spPr>
          <a:xfrm>
            <a:off x="6528816" y="2084832"/>
            <a:ext cx="502920" cy="2468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02</a:t>
            </a:r>
            <a:endParaRPr lang="en-US" sz="1300" dirty="0"/>
          </a:p>
        </p:txBody>
      </p:sp>
      <p:sp>
        <p:nvSpPr>
          <p:cNvPr id="16" name="Text 14"/>
          <p:cNvSpPr/>
          <p:nvPr/>
        </p:nvSpPr>
        <p:spPr>
          <a:xfrm>
            <a:off x="7187184" y="2039112"/>
            <a:ext cx="4389120" cy="420624"/>
          </a:xfrm>
          <a:prstGeom prst="rect">
            <a:avLst/>
          </a:prstGeom>
          <a:noFill/>
          <a:ln/>
        </p:spPr>
        <p:txBody>
          <a:bodyPr wrap="square" lIns="0" tIns="0" rIns="0" bIns="0" rtlCol="0" anchor="ctr">
            <a:normAutofit/>
          </a:bodyPr>
          <a:lstStyle/>
          <a:p>
            <a:r>
              <a:rPr sz="1750"/>
              <a:t>Tuned Logistic Regression</a:t>
            </a:r>
          </a:p>
        </p:txBody>
      </p:sp>
      <p:sp>
        <p:nvSpPr>
          <p:cNvPr id="17" name="Text 15"/>
          <p:cNvSpPr/>
          <p:nvPr/>
        </p:nvSpPr>
        <p:spPr>
          <a:xfrm>
            <a:off x="7187184" y="2551176"/>
            <a:ext cx="4343400" cy="1024128"/>
          </a:xfrm>
          <a:prstGeom prst="rect">
            <a:avLst/>
          </a:prstGeom>
          <a:noFill/>
          <a:ln/>
        </p:spPr>
        <p:txBody>
          <a:bodyPr wrap="square" lIns="0" tIns="0" rIns="0" bIns="0" rtlCol="0" anchor="t">
            <a:normAutofit/>
          </a:bodyPr>
          <a:lstStyle/>
          <a:p>
            <a:r>
              <a:rPr sz="1400"/>
              <a:t>We compared 13 regularisation strengths (C) using 5-fold cross-validation and selected a decision threshold using F2, which prioritises malignant recall.</a:t>
            </a:r>
          </a:p>
        </p:txBody>
      </p:sp>
      <p:sp>
        <p:nvSpPr>
          <p:cNvPr id="18" name="Shape 16"/>
          <p:cNvSpPr/>
          <p:nvPr/>
        </p:nvSpPr>
        <p:spPr>
          <a:xfrm>
            <a:off x="576072" y="3877056"/>
            <a:ext cx="5513832" cy="1874520"/>
          </a:xfrm>
          <a:prstGeom prst="roundRect">
            <a:avLst>
              <a:gd name="adj" fmla="val 5854"/>
            </a:avLst>
          </a:prstGeom>
          <a:solidFill>
            <a:srgbClr val="F5F8F8"/>
          </a:solidFill>
          <a:ln w="12700">
            <a:solidFill>
              <a:srgbClr val="F5F8F8">
                <a:alpha val="0"/>
              </a:srgbClr>
            </a:solidFill>
            <a:prstDash val="solid"/>
          </a:ln>
        </p:spPr>
        <p:txBody>
          <a:bodyPr/>
          <a:p/>
        </p:txBody>
      </p:sp>
      <p:sp>
        <p:nvSpPr>
          <p:cNvPr id="19" name="Shape 17"/>
          <p:cNvSpPr/>
          <p:nvPr/>
        </p:nvSpPr>
        <p:spPr>
          <a:xfrm>
            <a:off x="786384" y="4087368"/>
            <a:ext cx="502920" cy="502920"/>
          </a:xfrm>
          <a:prstGeom prst="ellipse">
            <a:avLst/>
          </a:prstGeom>
          <a:solidFill>
            <a:srgbClr val="16778A"/>
          </a:solidFill>
          <a:ln w="12700">
            <a:solidFill>
              <a:srgbClr val="16778A"/>
            </a:solidFill>
            <a:prstDash val="solid"/>
          </a:ln>
        </p:spPr>
        <p:txBody>
          <a:bodyPr/>
          <a:p/>
        </p:txBody>
      </p:sp>
      <p:sp>
        <p:nvSpPr>
          <p:cNvPr id="20" name="Text 18"/>
          <p:cNvSpPr/>
          <p:nvPr/>
        </p:nvSpPr>
        <p:spPr>
          <a:xfrm>
            <a:off x="786384" y="4178808"/>
            <a:ext cx="502920" cy="2468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03</a:t>
            </a:r>
            <a:endParaRPr lang="en-US" sz="1300" dirty="0"/>
          </a:p>
        </p:txBody>
      </p:sp>
      <p:sp>
        <p:nvSpPr>
          <p:cNvPr id="21" name="Text 19"/>
          <p:cNvSpPr/>
          <p:nvPr/>
        </p:nvSpPr>
        <p:spPr>
          <a:xfrm>
            <a:off x="1444752" y="4133088"/>
            <a:ext cx="4389120" cy="420624"/>
          </a:xfrm>
          <a:prstGeom prst="rect">
            <a:avLst/>
          </a:prstGeom>
          <a:noFill/>
          <a:ln/>
        </p:spPr>
        <p:txBody>
          <a:bodyPr wrap="square" lIns="0" tIns="0" rIns="0" bIns="0" rtlCol="0" anchor="ctr">
            <a:normAutofit/>
          </a:bodyPr>
          <a:lstStyle/>
          <a:p>
            <a:r>
              <a:rPr sz="1750"/>
              <a:t>Trained a third classifier</a:t>
            </a:r>
          </a:p>
        </p:txBody>
      </p:sp>
      <p:sp>
        <p:nvSpPr>
          <p:cNvPr id="22" name="Text 20"/>
          <p:cNvSpPr/>
          <p:nvPr/>
        </p:nvSpPr>
        <p:spPr>
          <a:xfrm>
            <a:off x="1444752" y="4645152"/>
            <a:ext cx="4343400" cy="1024128"/>
          </a:xfrm>
          <a:prstGeom prst="rect">
            <a:avLst/>
          </a:prstGeom>
          <a:noFill/>
          <a:ln/>
        </p:spPr>
        <p:txBody>
          <a:bodyPr wrap="square" lIns="0" tIns="0" rIns="0" bIns="0" rtlCol="0" anchor="t">
            <a:normAutofit/>
          </a:bodyPr>
          <a:lstStyle/>
          <a:p>
            <a:r>
              <a:rPr sz="1400"/>
              <a:t>We trained Random Forest as a non-linear alternative and used SHAP values to identify which cell measurements influenced its predictions.</a:t>
            </a:r>
          </a:p>
        </p:txBody>
      </p:sp>
      <p:sp>
        <p:nvSpPr>
          <p:cNvPr id="23" name="Shape 21"/>
          <p:cNvSpPr/>
          <p:nvPr/>
        </p:nvSpPr>
        <p:spPr>
          <a:xfrm>
            <a:off x="6318504" y="3877056"/>
            <a:ext cx="5513832" cy="1874520"/>
          </a:xfrm>
          <a:prstGeom prst="roundRect">
            <a:avLst>
              <a:gd name="adj" fmla="val 5854"/>
            </a:avLst>
          </a:prstGeom>
          <a:solidFill>
            <a:srgbClr val="E8F2F1"/>
          </a:solidFill>
          <a:ln w="12700">
            <a:solidFill>
              <a:srgbClr val="E8F2F1">
                <a:alpha val="0"/>
              </a:srgbClr>
            </a:solidFill>
            <a:prstDash val="solid"/>
          </a:ln>
        </p:spPr>
        <p:txBody>
          <a:bodyPr/>
          <a:p/>
        </p:txBody>
      </p:sp>
      <p:sp>
        <p:nvSpPr>
          <p:cNvPr id="24" name="Shape 22"/>
          <p:cNvSpPr/>
          <p:nvPr/>
        </p:nvSpPr>
        <p:spPr>
          <a:xfrm>
            <a:off x="6528816" y="4087368"/>
            <a:ext cx="502920" cy="502920"/>
          </a:xfrm>
          <a:prstGeom prst="ellipse">
            <a:avLst/>
          </a:prstGeom>
          <a:solidFill>
            <a:srgbClr val="16778A"/>
          </a:solidFill>
          <a:ln w="12700">
            <a:solidFill>
              <a:srgbClr val="16778A"/>
            </a:solidFill>
            <a:prstDash val="solid"/>
          </a:ln>
        </p:spPr>
        <p:txBody>
          <a:bodyPr/>
          <a:p/>
        </p:txBody>
      </p:sp>
      <p:sp>
        <p:nvSpPr>
          <p:cNvPr id="25" name="Text 23"/>
          <p:cNvSpPr/>
          <p:nvPr/>
        </p:nvSpPr>
        <p:spPr>
          <a:xfrm>
            <a:off x="6528816" y="4178808"/>
            <a:ext cx="502920" cy="2468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04</a:t>
            </a:r>
            <a:endParaRPr lang="en-US" sz="1300" dirty="0"/>
          </a:p>
        </p:txBody>
      </p:sp>
      <p:sp>
        <p:nvSpPr>
          <p:cNvPr id="26" name="Text 24"/>
          <p:cNvSpPr/>
          <p:nvPr/>
        </p:nvSpPr>
        <p:spPr>
          <a:xfrm>
            <a:off x="7187184" y="4133088"/>
            <a:ext cx="4389120" cy="420624"/>
          </a:xfrm>
          <a:prstGeom prst="rect">
            <a:avLst/>
          </a:prstGeom>
          <a:noFill/>
          <a:ln/>
        </p:spPr>
        <p:txBody>
          <a:bodyPr wrap="square" lIns="0" tIns="0" rIns="0" bIns="0" rtlCol="0" anchor="ctr">
            <a:normAutofit/>
          </a:bodyPr>
          <a:lstStyle/>
          <a:p>
            <a:r>
              <a:rPr sz="1750"/>
              <a:t>Evaluated probability reliability</a:t>
            </a:r>
          </a:p>
        </p:txBody>
      </p:sp>
      <p:sp>
        <p:nvSpPr>
          <p:cNvPr id="27" name="Text 25"/>
          <p:cNvSpPr/>
          <p:nvPr/>
        </p:nvSpPr>
        <p:spPr>
          <a:xfrm>
            <a:off x="7187184" y="4645152"/>
            <a:ext cx="4343400" cy="1024128"/>
          </a:xfrm>
          <a:prstGeom prst="rect">
            <a:avLst/>
          </a:prstGeom>
          <a:noFill/>
          <a:ln/>
        </p:spPr>
        <p:txBody>
          <a:bodyPr wrap="square" lIns="0" tIns="0" rIns="0" bIns="0" rtlCol="0" anchor="t">
            <a:normAutofit/>
          </a:bodyPr>
          <a:lstStyle/>
          <a:p>
            <a:r>
              <a:rPr sz="1400"/>
              <a:t>We plotted calibration and ROC curves, compared Brier scores and log-loss, and examined whether each model’s predicted probabilities were dependable.</a:t>
            </a:r>
          </a:p>
        </p:txBody>
      </p:sp>
      <p:sp>
        <p:nvSpPr>
          <p:cNvPr id="28" name="Text 26"/>
          <p:cNvSpPr/>
          <p:nvPr/>
        </p:nvSpPr>
        <p:spPr>
          <a:xfrm>
            <a:off x="640080" y="5824728"/>
            <a:ext cx="10972800" cy="365760"/>
          </a:xfrm>
          <a:prstGeom prst="rect">
            <a:avLst/>
          </a:prstGeom>
          <a:noFill/>
          <a:ln/>
        </p:spPr>
        <p:txBody>
          <a:bodyPr wrap="square" lIns="0" tIns="0" rIns="0" bIns="0" rtlCol="0" anchor="ctr">
            <a:normAutofit/>
          </a:bodyPr>
          <a:lstStyle/>
          <a:p>
            <a:r>
              <a:rPr sz="1250"/>
              <a:t>The following slides explain what we tested, what the numbers mean, and which changes did or did not improve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5  |  STATISTICAL SIGNIFICANCE</a:t>
            </a:r>
            <a:endParaRPr lang="en-US" sz="1130" dirty="0"/>
          </a:p>
        </p:txBody>
      </p:sp>
      <p:sp>
        <p:nvSpPr>
          <p:cNvPr id="3" name="Text 1"/>
          <p:cNvSpPr/>
          <p:nvPr/>
        </p:nvSpPr>
        <p:spPr>
          <a:xfrm>
            <a:off x="530352" y="630936"/>
            <a:ext cx="11109960" cy="530352"/>
          </a:xfrm>
          <a:prstGeom prst="rect">
            <a:avLst/>
          </a:prstGeom>
          <a:noFill/>
          <a:ln/>
        </p:spPr>
        <p:txBody>
          <a:bodyPr wrap="square" lIns="0" tIns="0" rIns="0" bIns="0" rtlCol="0" anchor="ctr">
            <a:normAutofit/>
          </a:bodyPr>
          <a:lstStyle/>
          <a:p>
            <a:r>
              <a:rPr sz="2900"/>
              <a:t>Was the 5.26-point accuracy gap statistically meaningful?</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used McNemar’s test because both models predicted the same 114 patients. The test focuses on cases where only one model was correct.</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6</a:t>
            </a:r>
            <a:endParaRPr lang="en-US" sz="930" dirty="0"/>
          </a:p>
        </p:txBody>
      </p:sp>
      <p:sp>
        <p:nvSpPr>
          <p:cNvPr id="8" name="Text 6"/>
          <p:cNvSpPr/>
          <p:nvPr/>
        </p:nvSpPr>
        <p:spPr>
          <a:xfrm>
            <a:off x="640080" y="1773936"/>
            <a:ext cx="4846320" cy="219456"/>
          </a:xfrm>
          <a:prstGeom prst="rect">
            <a:avLst/>
          </a:prstGeom>
          <a:noFill/>
          <a:ln/>
        </p:spPr>
        <p:txBody>
          <a:bodyPr wrap="square" lIns="0" tIns="0" rIns="0" bIns="0" rtlCol="0" anchor="ctr">
            <a:normAutofit/>
          </a:bodyPr>
          <a:lstStyle/>
          <a:p>
            <a:pPr indent="0" marL="0">
              <a:buNone/>
            </a:pPr>
            <a:r>
              <a:rPr lang="en-US" sz="1130" b="1" spc="150" kern="0" dirty="0">
                <a:solidFill>
                  <a:srgbClr val="16778A"/>
                </a:solidFill>
                <a:latin typeface="Aptos" pitchFamily="34" charset="0"/>
                <a:ea typeface="Aptos" pitchFamily="34" charset="-122"/>
                <a:cs typeface="Aptos" pitchFamily="34" charset="-120"/>
              </a:rPr>
              <a:t>PAIRED RESULTS</a:t>
            </a:r>
            <a:endParaRPr lang="en-US" sz="1130" dirty="0"/>
          </a:p>
        </p:txBody>
      </p:sp>
      <p:sp>
        <p:nvSpPr>
          <p:cNvPr id="9" name="Shape 7"/>
          <p:cNvSpPr/>
          <p:nvPr/>
        </p:nvSpPr>
        <p:spPr>
          <a:xfrm>
            <a:off x="621792" y="2139696"/>
            <a:ext cx="4919472" cy="2377440"/>
          </a:xfrm>
          <a:prstGeom prst="rect">
            <a:avLst/>
          </a:prstGeom>
          <a:solidFill>
            <a:srgbClr val="F4F8F8"/>
          </a:solidFill>
          <a:ln w="12700">
            <a:solidFill>
              <a:srgbClr val="F4F8F8">
                <a:alpha val="0"/>
              </a:srgbClr>
            </a:solidFill>
            <a:prstDash val="solid"/>
          </a:ln>
        </p:spPr>
        <p:txBody>
          <a:bodyPr/>
          <a:p/>
        </p:txBody>
      </p:sp>
      <p:sp>
        <p:nvSpPr>
          <p:cNvPr id="10" name="Shape 8"/>
          <p:cNvSpPr/>
          <p:nvPr/>
        </p:nvSpPr>
        <p:spPr>
          <a:xfrm>
            <a:off x="1856232" y="2414016"/>
            <a:ext cx="1709928" cy="530352"/>
          </a:xfrm>
          <a:prstGeom prst="rect">
            <a:avLst/>
          </a:prstGeom>
          <a:solidFill>
            <a:srgbClr val="DDF0ED"/>
          </a:solidFill>
          <a:ln w="12700">
            <a:solidFill>
              <a:srgbClr val="DDF0ED">
                <a:alpha val="0"/>
              </a:srgbClr>
            </a:solidFill>
            <a:prstDash val="solid"/>
          </a:ln>
        </p:spPr>
        <p:txBody>
          <a:bodyPr/>
          <a:p/>
        </p:txBody>
      </p:sp>
      <p:sp>
        <p:nvSpPr>
          <p:cNvPr id="11" name="Shape 9"/>
          <p:cNvSpPr/>
          <p:nvPr/>
        </p:nvSpPr>
        <p:spPr>
          <a:xfrm>
            <a:off x="3584448" y="2414016"/>
            <a:ext cx="1709928" cy="530352"/>
          </a:xfrm>
          <a:prstGeom prst="rect">
            <a:avLst/>
          </a:prstGeom>
          <a:solidFill>
            <a:srgbClr val="FAEFF0"/>
          </a:solidFill>
          <a:ln w="12700">
            <a:solidFill>
              <a:srgbClr val="FAEFF0">
                <a:alpha val="0"/>
              </a:srgbClr>
            </a:solidFill>
            <a:prstDash val="solid"/>
          </a:ln>
        </p:spPr>
        <p:txBody>
          <a:bodyPr/>
          <a:p/>
        </p:txBody>
      </p:sp>
      <p:sp>
        <p:nvSpPr>
          <p:cNvPr id="12" name="Text 10"/>
          <p:cNvSpPr/>
          <p:nvPr/>
        </p:nvSpPr>
        <p:spPr>
          <a:xfrm>
            <a:off x="1929384" y="2560320"/>
            <a:ext cx="1554480" cy="201168"/>
          </a:xfrm>
          <a:prstGeom prst="rect">
            <a:avLst/>
          </a:prstGeom>
          <a:noFill/>
          <a:ln/>
        </p:spPr>
        <p:txBody>
          <a:bodyPr wrap="square" lIns="0" tIns="0" rIns="0" bIns="0" rtlCol="0" anchor="ctr">
            <a:normAutofit/>
          </a:bodyPr>
          <a:lstStyle/>
          <a:p>
            <a:pPr algn="ctr" indent="0" marL="0">
              <a:buNone/>
            </a:pPr>
            <a:r>
              <a:rPr lang="en-US" sz="1300" b="1" dirty="0">
                <a:solidFill>
                  <a:srgbClr val="1D3540"/>
                </a:solidFill>
                <a:latin typeface="Aptos" pitchFamily="34" charset="0"/>
                <a:ea typeface="Aptos" pitchFamily="34" charset="-122"/>
                <a:cs typeface="Aptos" pitchFamily="34" charset="-120"/>
              </a:rPr>
              <a:t>GNB correct</a:t>
            </a:r>
            <a:endParaRPr lang="en-US" sz="1300" dirty="0"/>
          </a:p>
        </p:txBody>
      </p:sp>
      <p:sp>
        <p:nvSpPr>
          <p:cNvPr id="13" name="Text 11"/>
          <p:cNvSpPr/>
          <p:nvPr/>
        </p:nvSpPr>
        <p:spPr>
          <a:xfrm>
            <a:off x="3666744" y="2560320"/>
            <a:ext cx="1554480" cy="201168"/>
          </a:xfrm>
          <a:prstGeom prst="rect">
            <a:avLst/>
          </a:prstGeom>
          <a:noFill/>
          <a:ln/>
        </p:spPr>
        <p:txBody>
          <a:bodyPr wrap="square" lIns="0" tIns="0" rIns="0" bIns="0" rtlCol="0" anchor="ctr">
            <a:normAutofit/>
          </a:bodyPr>
          <a:lstStyle/>
          <a:p>
            <a:pPr algn="ctr" indent="0" marL="0">
              <a:buNone/>
            </a:pPr>
            <a:r>
              <a:rPr lang="en-US" sz="1300" b="1" dirty="0">
                <a:solidFill>
                  <a:srgbClr val="1D3540"/>
                </a:solidFill>
                <a:latin typeface="Aptos" pitchFamily="34" charset="0"/>
                <a:ea typeface="Aptos" pitchFamily="34" charset="-122"/>
                <a:cs typeface="Aptos" pitchFamily="34" charset="-120"/>
              </a:rPr>
              <a:t>GNB wrong</a:t>
            </a:r>
            <a:endParaRPr lang="en-US" sz="1300" dirty="0"/>
          </a:p>
        </p:txBody>
      </p:sp>
      <p:sp>
        <p:nvSpPr>
          <p:cNvPr id="14" name="Text 12"/>
          <p:cNvSpPr/>
          <p:nvPr/>
        </p:nvSpPr>
        <p:spPr>
          <a:xfrm>
            <a:off x="749808" y="3127248"/>
            <a:ext cx="1005840" cy="320040"/>
          </a:xfrm>
          <a:prstGeom prst="rect">
            <a:avLst/>
          </a:prstGeom>
          <a:noFill/>
          <a:ln/>
        </p:spPr>
        <p:txBody>
          <a:bodyPr wrap="square" lIns="0" tIns="0" rIns="0" bIns="0" rtlCol="0" anchor="ctr">
            <a:normAutofit/>
          </a:bodyPr>
          <a:lstStyle/>
          <a:p>
            <a:pPr indent="0" marL="0">
              <a:buNone/>
            </a:pPr>
            <a:r>
              <a:rPr lang="en-US" sz="1220" b="1" dirty="0">
                <a:solidFill>
                  <a:srgbClr val="1D3540"/>
                </a:solidFill>
                <a:latin typeface="Aptos" pitchFamily="34" charset="0"/>
                <a:ea typeface="Aptos" pitchFamily="34" charset="-122"/>
                <a:cs typeface="Aptos" pitchFamily="34" charset="-120"/>
              </a:rPr>
              <a:t>LR correct</a:t>
            </a:r>
            <a:endParaRPr lang="en-US" sz="1220" dirty="0"/>
          </a:p>
        </p:txBody>
      </p:sp>
      <p:sp>
        <p:nvSpPr>
          <p:cNvPr id="15" name="Text 13"/>
          <p:cNvSpPr/>
          <p:nvPr/>
        </p:nvSpPr>
        <p:spPr>
          <a:xfrm>
            <a:off x="749808" y="3803904"/>
            <a:ext cx="1005840" cy="320040"/>
          </a:xfrm>
          <a:prstGeom prst="rect">
            <a:avLst/>
          </a:prstGeom>
          <a:noFill/>
          <a:ln/>
        </p:spPr>
        <p:txBody>
          <a:bodyPr wrap="square" lIns="0" tIns="0" rIns="0" bIns="0" rtlCol="0" anchor="ctr">
            <a:normAutofit/>
          </a:bodyPr>
          <a:lstStyle/>
          <a:p>
            <a:pPr indent="0" marL="0">
              <a:buNone/>
            </a:pPr>
            <a:r>
              <a:rPr lang="en-US" sz="1220" b="1" dirty="0">
                <a:solidFill>
                  <a:srgbClr val="1D3540"/>
                </a:solidFill>
                <a:latin typeface="Aptos" pitchFamily="34" charset="0"/>
                <a:ea typeface="Aptos" pitchFamily="34" charset="-122"/>
                <a:cs typeface="Aptos" pitchFamily="34" charset="-120"/>
              </a:rPr>
              <a:t>LR wrong</a:t>
            </a:r>
            <a:endParaRPr lang="en-US" sz="1220" dirty="0"/>
          </a:p>
        </p:txBody>
      </p:sp>
      <p:sp>
        <p:nvSpPr>
          <p:cNvPr id="16" name="Shape 14"/>
          <p:cNvSpPr/>
          <p:nvPr/>
        </p:nvSpPr>
        <p:spPr>
          <a:xfrm>
            <a:off x="1856232" y="3035808"/>
            <a:ext cx="1709928" cy="576072"/>
          </a:xfrm>
          <a:prstGeom prst="roundRect">
            <a:avLst>
              <a:gd name="adj" fmla="val 19048"/>
            </a:avLst>
          </a:prstGeom>
          <a:solidFill>
            <a:srgbClr val="FFFFFF"/>
          </a:solidFill>
          <a:ln w="12700">
            <a:solidFill>
              <a:srgbClr val="FFFFFF">
                <a:alpha val="0"/>
              </a:srgbClr>
            </a:solidFill>
            <a:prstDash val="solid"/>
          </a:ln>
        </p:spPr>
        <p:txBody>
          <a:bodyPr/>
          <a:p/>
        </p:txBody>
      </p:sp>
      <p:sp>
        <p:nvSpPr>
          <p:cNvPr id="17" name="Text 15"/>
          <p:cNvSpPr/>
          <p:nvPr/>
        </p:nvSpPr>
        <p:spPr>
          <a:xfrm>
            <a:off x="1856232" y="3118104"/>
            <a:ext cx="1709928" cy="329184"/>
          </a:xfrm>
          <a:prstGeom prst="rect">
            <a:avLst/>
          </a:prstGeom>
          <a:noFill/>
          <a:ln/>
        </p:spPr>
        <p:txBody>
          <a:bodyPr wrap="square" lIns="0" tIns="0" rIns="0" bIns="0" rtlCol="0" anchor="ctr">
            <a:normAutofit/>
          </a:bodyPr>
          <a:lstStyle/>
          <a:p>
            <a:pPr algn="ctr" indent="0" marL="0">
              <a:buNone/>
            </a:pPr>
            <a:r>
              <a:rPr lang="en-US" sz="2300" b="1" dirty="0">
                <a:solidFill>
                  <a:srgbClr val="16778A"/>
                </a:solidFill>
                <a:latin typeface="Georgia" pitchFamily="34" charset="0"/>
                <a:ea typeface="Georgia" pitchFamily="34" charset="-122"/>
                <a:cs typeface="Georgia" pitchFamily="34" charset="-120"/>
              </a:rPr>
              <a:t>106</a:t>
            </a:r>
            <a:endParaRPr lang="en-US" sz="2300" dirty="0"/>
          </a:p>
        </p:txBody>
      </p:sp>
      <p:sp>
        <p:nvSpPr>
          <p:cNvPr id="18" name="Shape 16"/>
          <p:cNvSpPr/>
          <p:nvPr/>
        </p:nvSpPr>
        <p:spPr>
          <a:xfrm>
            <a:off x="3584448" y="3035808"/>
            <a:ext cx="1709928" cy="576072"/>
          </a:xfrm>
          <a:prstGeom prst="roundRect">
            <a:avLst>
              <a:gd name="adj" fmla="val 19048"/>
            </a:avLst>
          </a:prstGeom>
          <a:solidFill>
            <a:srgbClr val="FBE8EC"/>
          </a:solidFill>
          <a:ln w="12700">
            <a:solidFill>
              <a:srgbClr val="FBE8EC">
                <a:alpha val="0"/>
              </a:srgbClr>
            </a:solidFill>
            <a:prstDash val="solid"/>
          </a:ln>
        </p:spPr>
        <p:txBody>
          <a:bodyPr/>
          <a:p/>
        </p:txBody>
      </p:sp>
      <p:sp>
        <p:nvSpPr>
          <p:cNvPr id="19" name="Text 17"/>
          <p:cNvSpPr/>
          <p:nvPr/>
        </p:nvSpPr>
        <p:spPr>
          <a:xfrm>
            <a:off x="3584448" y="3118104"/>
            <a:ext cx="1709928" cy="329184"/>
          </a:xfrm>
          <a:prstGeom prst="rect">
            <a:avLst/>
          </a:prstGeom>
          <a:noFill/>
          <a:ln/>
        </p:spPr>
        <p:txBody>
          <a:bodyPr wrap="square" lIns="0" tIns="0" rIns="0" bIns="0" rtlCol="0" anchor="ctr">
            <a:normAutofit/>
          </a:bodyPr>
          <a:lstStyle/>
          <a:p>
            <a:pPr algn="ctr" indent="0" marL="0">
              <a:buNone/>
            </a:pPr>
            <a:r>
              <a:rPr lang="en-US" sz="2300" b="1" dirty="0">
                <a:solidFill>
                  <a:srgbClr val="C75D75"/>
                </a:solidFill>
                <a:latin typeface="Georgia" pitchFamily="34" charset="0"/>
                <a:ea typeface="Georgia" pitchFamily="34" charset="-122"/>
                <a:cs typeface="Georgia" pitchFamily="34" charset="-120"/>
              </a:rPr>
              <a:t>6</a:t>
            </a:r>
            <a:endParaRPr lang="en-US" sz="2300" dirty="0"/>
          </a:p>
        </p:txBody>
      </p:sp>
      <p:sp>
        <p:nvSpPr>
          <p:cNvPr id="20" name="Shape 18"/>
          <p:cNvSpPr/>
          <p:nvPr/>
        </p:nvSpPr>
        <p:spPr>
          <a:xfrm>
            <a:off x="1856232" y="3675888"/>
            <a:ext cx="1709928" cy="576072"/>
          </a:xfrm>
          <a:prstGeom prst="roundRect">
            <a:avLst>
              <a:gd name="adj" fmla="val 19048"/>
            </a:avLst>
          </a:prstGeom>
          <a:solidFill>
            <a:srgbClr val="FFFFFF"/>
          </a:solidFill>
          <a:ln w="12700">
            <a:solidFill>
              <a:srgbClr val="FFFFFF">
                <a:alpha val="0"/>
              </a:srgbClr>
            </a:solidFill>
            <a:prstDash val="solid"/>
          </a:ln>
        </p:spPr>
        <p:txBody>
          <a:bodyPr/>
          <a:p/>
        </p:txBody>
      </p:sp>
      <p:sp>
        <p:nvSpPr>
          <p:cNvPr id="21" name="Text 19"/>
          <p:cNvSpPr/>
          <p:nvPr/>
        </p:nvSpPr>
        <p:spPr>
          <a:xfrm>
            <a:off x="1856232" y="3758184"/>
            <a:ext cx="1709928" cy="329184"/>
          </a:xfrm>
          <a:prstGeom prst="rect">
            <a:avLst/>
          </a:prstGeom>
          <a:noFill/>
          <a:ln/>
        </p:spPr>
        <p:txBody>
          <a:bodyPr wrap="square" lIns="0" tIns="0" rIns="0" bIns="0" rtlCol="0" anchor="ctr">
            <a:normAutofit/>
          </a:bodyPr>
          <a:lstStyle/>
          <a:p>
            <a:pPr algn="ctr" indent="0" marL="0">
              <a:buNone/>
            </a:pPr>
            <a:r>
              <a:rPr lang="en-US" sz="2300" b="1" dirty="0">
                <a:solidFill>
                  <a:srgbClr val="16778A"/>
                </a:solidFill>
                <a:latin typeface="Georgia" pitchFamily="34" charset="0"/>
                <a:ea typeface="Georgia" pitchFamily="34" charset="-122"/>
                <a:cs typeface="Georgia" pitchFamily="34" charset="-120"/>
              </a:rPr>
              <a:t>0</a:t>
            </a:r>
            <a:endParaRPr lang="en-US" sz="2300" dirty="0"/>
          </a:p>
        </p:txBody>
      </p:sp>
      <p:sp>
        <p:nvSpPr>
          <p:cNvPr id="22" name="Shape 20"/>
          <p:cNvSpPr/>
          <p:nvPr/>
        </p:nvSpPr>
        <p:spPr>
          <a:xfrm>
            <a:off x="3584448" y="3675888"/>
            <a:ext cx="1709928" cy="576072"/>
          </a:xfrm>
          <a:prstGeom prst="roundRect">
            <a:avLst>
              <a:gd name="adj" fmla="val 19048"/>
            </a:avLst>
          </a:prstGeom>
          <a:solidFill>
            <a:srgbClr val="FFFFFF"/>
          </a:solidFill>
          <a:ln w="12700">
            <a:solidFill>
              <a:srgbClr val="FFFFFF">
                <a:alpha val="0"/>
              </a:srgbClr>
            </a:solidFill>
            <a:prstDash val="solid"/>
          </a:ln>
        </p:spPr>
        <p:txBody>
          <a:bodyPr/>
          <a:p/>
        </p:txBody>
      </p:sp>
      <p:sp>
        <p:nvSpPr>
          <p:cNvPr id="23" name="Text 21"/>
          <p:cNvSpPr/>
          <p:nvPr/>
        </p:nvSpPr>
        <p:spPr>
          <a:xfrm>
            <a:off x="3584448" y="3758184"/>
            <a:ext cx="1709928" cy="329184"/>
          </a:xfrm>
          <a:prstGeom prst="rect">
            <a:avLst/>
          </a:prstGeom>
          <a:noFill/>
          <a:ln/>
        </p:spPr>
        <p:txBody>
          <a:bodyPr wrap="square" lIns="0" tIns="0" rIns="0" bIns="0" rtlCol="0" anchor="ctr">
            <a:normAutofit/>
          </a:bodyPr>
          <a:lstStyle/>
          <a:p>
            <a:pPr algn="ctr" indent="0" marL="0">
              <a:buNone/>
            </a:pPr>
            <a:r>
              <a:rPr lang="en-US" sz="2300" b="1" dirty="0">
                <a:solidFill>
                  <a:srgbClr val="16778A"/>
                </a:solidFill>
                <a:latin typeface="Georgia" pitchFamily="34" charset="0"/>
                <a:ea typeface="Georgia" pitchFamily="34" charset="-122"/>
                <a:cs typeface="Georgia" pitchFamily="34" charset="-120"/>
              </a:rPr>
              <a:t>2</a:t>
            </a:r>
            <a:endParaRPr lang="en-US" sz="2300" dirty="0"/>
          </a:p>
        </p:txBody>
      </p:sp>
      <p:sp>
        <p:nvSpPr>
          <p:cNvPr id="24" name="Text 22"/>
          <p:cNvSpPr/>
          <p:nvPr/>
        </p:nvSpPr>
        <p:spPr>
          <a:xfrm>
            <a:off x="713232" y="4672584"/>
            <a:ext cx="4709160" cy="301752"/>
          </a:xfrm>
          <a:prstGeom prst="rect">
            <a:avLst/>
          </a:prstGeom>
          <a:noFill/>
          <a:ln/>
        </p:spPr>
        <p:txBody>
          <a:bodyPr wrap="square" lIns="0" tIns="0" rIns="0" bIns="0" rtlCol="0" anchor="ctr">
            <a:normAutofit/>
          </a:bodyPr>
          <a:lstStyle/>
          <a:p>
            <a:r>
              <a:rPr sz="1280"/>
              <a:t>LR was correct in 6 cases GNB missed; GNB had no cases where it alone was correct.</a:t>
            </a:r>
          </a:p>
        </p:txBody>
      </p:sp>
      <p:sp>
        <p:nvSpPr>
          <p:cNvPr id="25" name="Shape 23"/>
          <p:cNvSpPr/>
          <p:nvPr/>
        </p:nvSpPr>
        <p:spPr>
          <a:xfrm>
            <a:off x="5843016" y="1956816"/>
            <a:ext cx="2697480" cy="1453896"/>
          </a:xfrm>
          <a:prstGeom prst="roundRect">
            <a:avLst>
              <a:gd name="adj" fmla="val 7547"/>
            </a:avLst>
          </a:prstGeom>
          <a:solidFill>
            <a:srgbClr val="E9F4F3"/>
          </a:solidFill>
          <a:ln w="12700">
            <a:solidFill>
              <a:srgbClr val="E9F4F3">
                <a:alpha val="0"/>
              </a:srgbClr>
            </a:solidFill>
            <a:prstDash val="solid"/>
          </a:ln>
        </p:spPr>
        <p:txBody>
          <a:bodyPr/>
          <a:p/>
        </p:txBody>
      </p:sp>
      <p:sp>
        <p:nvSpPr>
          <p:cNvPr id="26" name="Text 24"/>
          <p:cNvSpPr/>
          <p:nvPr/>
        </p:nvSpPr>
        <p:spPr>
          <a:xfrm>
            <a:off x="6025896" y="2121408"/>
            <a:ext cx="2331720"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0.0312</a:t>
            </a:r>
            <a:endParaRPr lang="en-US" sz="2500" dirty="0"/>
          </a:p>
        </p:txBody>
      </p:sp>
      <p:sp>
        <p:nvSpPr>
          <p:cNvPr id="27" name="Text 25"/>
          <p:cNvSpPr/>
          <p:nvPr/>
        </p:nvSpPr>
        <p:spPr>
          <a:xfrm>
            <a:off x="6025896" y="2688336"/>
            <a:ext cx="2331720" cy="649224"/>
          </a:xfrm>
          <a:prstGeom prst="rect">
            <a:avLst/>
          </a:prstGeom>
          <a:noFill/>
          <a:ln/>
        </p:spPr>
        <p:txBody>
          <a:bodyPr wrap="square" lIns="0" tIns="0" rIns="0" bIns="0" rtlCol="0" anchor="t">
            <a:normAutofit/>
          </a:bodyPr>
          <a:lstStyle/>
          <a:p>
            <a:r>
              <a:rPr sz="1210"/>
              <a:t>Exact McNemar p-value. Below 0.05 for the planned LR–GNB comparison.</a:t>
            </a:r>
          </a:p>
        </p:txBody>
      </p:sp>
      <p:sp>
        <p:nvSpPr>
          <p:cNvPr id="28" name="Shape 26"/>
          <p:cNvSpPr/>
          <p:nvPr/>
        </p:nvSpPr>
        <p:spPr>
          <a:xfrm>
            <a:off x="8759952" y="1956816"/>
            <a:ext cx="2697480" cy="1453896"/>
          </a:xfrm>
          <a:prstGeom prst="roundRect">
            <a:avLst>
              <a:gd name="adj" fmla="val 7547"/>
            </a:avLst>
          </a:prstGeom>
          <a:solidFill>
            <a:srgbClr val="FAEFF0"/>
          </a:solidFill>
          <a:ln w="12700">
            <a:solidFill>
              <a:srgbClr val="FAEFF0">
                <a:alpha val="0"/>
              </a:srgbClr>
            </a:solidFill>
            <a:prstDash val="solid"/>
          </a:ln>
        </p:spPr>
        <p:txBody>
          <a:bodyPr/>
          <a:p/>
        </p:txBody>
      </p:sp>
      <p:sp>
        <p:nvSpPr>
          <p:cNvPr id="29" name="Text 27"/>
          <p:cNvSpPr/>
          <p:nvPr/>
        </p:nvSpPr>
        <p:spPr>
          <a:xfrm>
            <a:off x="8942832" y="2121408"/>
            <a:ext cx="2331720" cy="457200"/>
          </a:xfrm>
          <a:prstGeom prst="rect">
            <a:avLst/>
          </a:prstGeom>
          <a:noFill/>
          <a:ln/>
        </p:spPr>
        <p:txBody>
          <a:bodyPr wrap="square" lIns="0" tIns="0" rIns="0" bIns="0" rtlCol="0" anchor="ctr">
            <a:normAutofit/>
          </a:bodyPr>
          <a:lstStyle/>
          <a:p>
            <a:pPr indent="0" marL="0">
              <a:buNone/>
            </a:pPr>
            <a:r>
              <a:rPr lang="en-US" sz="2500" b="1" dirty="0">
                <a:solidFill>
                  <a:srgbClr val="C75D75"/>
                </a:solidFill>
                <a:latin typeface="Georgia" pitchFamily="34" charset="0"/>
                <a:ea typeface="Georgia" pitchFamily="34" charset="-122"/>
                <a:cs typeface="Georgia" pitchFamily="34" charset="-120"/>
              </a:rPr>
              <a:t>+5.26 pts</a:t>
            </a:r>
            <a:endParaRPr lang="en-US" sz="2500" dirty="0"/>
          </a:p>
        </p:txBody>
      </p:sp>
      <p:sp>
        <p:nvSpPr>
          <p:cNvPr id="30" name="Text 28"/>
          <p:cNvSpPr/>
          <p:nvPr/>
        </p:nvSpPr>
        <p:spPr>
          <a:xfrm>
            <a:off x="8942832" y="2688336"/>
            <a:ext cx="2331720" cy="649224"/>
          </a:xfrm>
          <a:prstGeom prst="rect">
            <a:avLst/>
          </a:prstGeom>
          <a:noFill/>
          <a:ln/>
        </p:spPr>
        <p:txBody>
          <a:bodyPr wrap="square" lIns="0" tIns="0" rIns="0" bIns="0" rtlCol="0" anchor="t">
            <a:normAutofit/>
          </a:bodyPr>
          <a:lstStyle/>
          <a:p>
            <a:r>
              <a:rPr sz="1210"/>
              <a:t>LR exceeded GNB by 5.26 percentage points on the test set.</a:t>
            </a:r>
          </a:p>
        </p:txBody>
      </p:sp>
      <p:sp>
        <p:nvSpPr>
          <p:cNvPr id="31" name="Shape 29"/>
          <p:cNvSpPr/>
          <p:nvPr/>
        </p:nvSpPr>
        <p:spPr>
          <a:xfrm>
            <a:off x="5843016" y="3675888"/>
            <a:ext cx="5614416" cy="1344168"/>
          </a:xfrm>
          <a:prstGeom prst="roundRect">
            <a:avLst>
              <a:gd name="adj" fmla="val 8163"/>
            </a:avLst>
          </a:prstGeom>
          <a:solidFill>
            <a:srgbClr val="EFF6F5"/>
          </a:solidFill>
          <a:ln w="12700">
            <a:solidFill>
              <a:srgbClr val="EFF6F5">
                <a:alpha val="0"/>
              </a:srgbClr>
            </a:solidFill>
            <a:prstDash val="solid"/>
          </a:ln>
        </p:spPr>
        <p:txBody>
          <a:bodyPr/>
          <a:p/>
        </p:txBody>
      </p:sp>
      <p:sp>
        <p:nvSpPr>
          <p:cNvPr id="32" name="Text 30"/>
          <p:cNvSpPr/>
          <p:nvPr/>
        </p:nvSpPr>
        <p:spPr>
          <a:xfrm>
            <a:off x="6062472" y="3831336"/>
            <a:ext cx="5166360" cy="256032"/>
          </a:xfrm>
          <a:prstGeom prst="rect">
            <a:avLst/>
          </a:prstGeom>
          <a:noFill/>
          <a:ln/>
        </p:spPr>
        <p:txBody>
          <a:bodyPr wrap="square" lIns="0" tIns="0" rIns="0" bIns="0" rtlCol="0" anchor="ctr">
            <a:normAutofit/>
          </a:bodyPr>
          <a:lstStyle/>
          <a:p>
            <a:pPr indent="0" marL="0">
              <a:buNone/>
            </a:pPr>
            <a:r>
              <a:rPr lang="en-US" sz="1230" b="1" dirty="0">
                <a:solidFill>
                  <a:srgbClr val="16778A"/>
                </a:solidFill>
                <a:latin typeface="Aptos" pitchFamily="34" charset="0"/>
                <a:ea typeface="Aptos" pitchFamily="34" charset="-122"/>
                <a:cs typeface="Aptos" pitchFamily="34" charset="-120"/>
              </a:rPr>
              <a:t>TWO SUPPORTING CHECKS</a:t>
            </a:r>
            <a:endParaRPr lang="en-US" sz="1230" dirty="0"/>
          </a:p>
        </p:txBody>
      </p:sp>
      <p:sp>
        <p:nvSpPr>
          <p:cNvPr id="33" name="Text 31"/>
          <p:cNvSpPr/>
          <p:nvPr/>
        </p:nvSpPr>
        <p:spPr>
          <a:xfrm>
            <a:off x="6062472" y="4215384"/>
            <a:ext cx="5129784" cy="603504"/>
          </a:xfrm>
          <a:prstGeom prst="rect">
            <a:avLst/>
          </a:prstGeom>
          <a:noFill/>
          <a:ln/>
        </p:spPr>
        <p:txBody>
          <a:bodyPr wrap="square" lIns="0" tIns="0" rIns="0" bIns="0" rtlCol="0" anchor="ctr">
            <a:normAutofit/>
          </a:bodyPr>
          <a:lstStyle/>
          <a:p>
            <a:pPr indent="0" marL="0">
              <a:buNone/>
            </a:pPr>
            <a:r>
              <a:rPr lang="en-US" sz="1350" dirty="0">
                <a:solidFill>
                  <a:srgbClr val="1D3540"/>
                </a:solidFill>
                <a:latin typeface="Aptos" pitchFamily="34" charset="0"/>
                <a:ea typeface="Aptos" pitchFamily="34" charset="-122"/>
                <a:cs typeface="Aptos" pitchFamily="34" charset="-120"/>
              </a:rPr>
              <a:t>Bootstrap 95% CI: +1.75 to +9.65 percentage points</a:t>
            </a:r>
            <a:endParaRPr lang="en-US" sz="1350" dirty="0"/>
          </a:p>
          <a:p>
            <a:pPr indent="0" marL="0">
              <a:buNone/>
            </a:pPr>
            <a:r>
              <a:rPr lang="en-US" sz="1350" dirty="0">
                <a:solidFill>
                  <a:srgbClr val="1D3540"/>
                </a:solidFill>
                <a:latin typeface="Aptos" pitchFamily="34" charset="0"/>
                <a:ea typeface="Aptos" pitchFamily="34" charset="-122"/>
                <a:cs typeface="Aptos" pitchFamily="34" charset="-120"/>
              </a:rPr>
              <a:t>Repeated 5-fold CV: corrected t-test p = 0.0012</a:t>
            </a:r>
            <a:endParaRPr lang="en-US" sz="1350" dirty="0"/>
          </a:p>
        </p:txBody>
      </p:sp>
      <p:sp>
        <p:nvSpPr>
          <p:cNvPr id="34" name="Shape 32"/>
          <p:cNvSpPr/>
          <p:nvPr/>
        </p:nvSpPr>
        <p:spPr>
          <a:xfrm>
            <a:off x="621792" y="5230368"/>
            <a:ext cx="10835640" cy="786384"/>
          </a:xfrm>
          <a:prstGeom prst="roundRect">
            <a:avLst>
              <a:gd name="adj" fmla="val 13953"/>
            </a:avLst>
          </a:prstGeom>
          <a:solidFill>
            <a:srgbClr val="F8F1F2"/>
          </a:solidFill>
          <a:ln w="12700">
            <a:solidFill>
              <a:srgbClr val="F8F1F2">
                <a:alpha val="0"/>
              </a:srgbClr>
            </a:solidFill>
            <a:prstDash val="solid"/>
          </a:ln>
        </p:spPr>
        <p:txBody>
          <a:bodyPr/>
          <a:p/>
        </p:txBody>
      </p:sp>
      <p:sp>
        <p:nvSpPr>
          <p:cNvPr id="35" name="Text 33"/>
          <p:cNvSpPr/>
          <p:nvPr/>
        </p:nvSpPr>
        <p:spPr>
          <a:xfrm>
            <a:off x="822960" y="5349240"/>
            <a:ext cx="10433304" cy="539496"/>
          </a:xfrm>
          <a:prstGeom prst="rect">
            <a:avLst/>
          </a:prstGeom>
          <a:noFill/>
          <a:ln/>
        </p:spPr>
        <p:txBody>
          <a:bodyPr wrap="square" lIns="0" tIns="0" rIns="0" bIns="0" rtlCol="0" anchor="ctr">
            <a:normAutofit/>
          </a:bodyPr>
          <a:lstStyle/>
          <a:p>
            <a:pPr indent="0" marL="0">
              <a:buNone/>
            </a:pPr>
            <a:r>
              <a:rPr lang="en-US" sz="1210" dirty="0">
                <a:solidFill>
                  <a:srgbClr val="1D3540"/>
                </a:solidFill>
                <a:latin typeface="Aptos" pitchFamily="34" charset="0"/>
                <a:ea typeface="Aptos" pitchFamily="34" charset="-122"/>
                <a:cs typeface="Aptos" pitchFamily="34" charset="-120"/>
              </a:rPr>
              <a:t>Important caution: across all 3 exploratory pairwise model comparisons, the Bonferroni-adjusted LR–GNB p-value is 0.0938. The unadjusted 0.0312 applies to the preplanned comparison.</a:t>
            </a:r>
            <a:endParaRPr lang="en-US" sz="12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6  |  HYPERPARAMETER SEARCH</a:t>
            </a:r>
            <a:endParaRPr lang="en-US" sz="1130" dirty="0"/>
          </a:p>
        </p:txBody>
      </p:sp>
      <p:sp>
        <p:nvSpPr>
          <p:cNvPr id="3" name="Text 1"/>
          <p:cNvSpPr/>
          <p:nvPr/>
        </p:nvSpPr>
        <p:spPr>
          <a:xfrm>
            <a:off x="530352" y="630936"/>
            <a:ext cx="11109960" cy="640080"/>
          </a:xfrm>
          <a:prstGeom prst="rect">
            <a:avLst/>
          </a:prstGeom>
          <a:noFill/>
          <a:ln/>
        </p:spPr>
        <p:txBody>
          <a:bodyPr wrap="square" lIns="0" tIns="0" rIns="0" bIns="0" rtlCol="0" anchor="ctr">
            <a:normAutofit/>
          </a:bodyPr>
          <a:lstStyle/>
          <a:p>
            <a:r>
              <a:rPr sz="2900"/>
              <a:t>Regularisation tuning: the default C was already best</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tested 13 values of C (0.001–1000) using 5-fold cross-validation on training data. Lower log-loss means more reliable probability predictions.</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7</a:t>
            </a:r>
            <a:endParaRPr lang="en-US" sz="930" dirty="0"/>
          </a:p>
        </p:txBody>
      </p:sp>
      <p:pic>
        <p:nvPicPr>
          <p:cNvPr id="8" name="Image 0" descr="/mnt/data/bc_assets/c_search_clean.png">    </p:cNvPr>
          <p:cNvPicPr>
            <a:picLocks noChangeAspect="1"/>
          </p:cNvPicPr>
          <p:nvPr/>
        </p:nvPicPr>
        <p:blipFill>
          <a:blip r:embed="rId1"/>
          <a:stretch>
            <a:fillRect/>
          </a:stretch>
        </p:blipFill>
        <p:spPr>
          <a:xfrm>
            <a:off x="1687542" y="1746504"/>
            <a:ext cx="8804724" cy="3374136"/>
          </a:xfrm>
          <a:prstGeom prst="rect">
            <a:avLst/>
          </a:prstGeom>
        </p:spPr>
      </p:pic>
      <p:sp>
        <p:nvSpPr>
          <p:cNvPr id="9" name="Shape 6"/>
          <p:cNvSpPr/>
          <p:nvPr/>
        </p:nvSpPr>
        <p:spPr>
          <a:xfrm>
            <a:off x="640080" y="5148072"/>
            <a:ext cx="3456432" cy="777240"/>
          </a:xfrm>
          <a:prstGeom prst="roundRect">
            <a:avLst>
              <a:gd name="adj" fmla="val 14118"/>
            </a:avLst>
          </a:prstGeom>
          <a:solidFill>
            <a:srgbClr val="E9F4F3"/>
          </a:solidFill>
          <a:ln w="12700">
            <a:solidFill>
              <a:srgbClr val="E9F4F3">
                <a:alpha val="0"/>
              </a:srgbClr>
            </a:solidFill>
            <a:prstDash val="solid"/>
          </a:ln>
        </p:spPr>
        <p:txBody>
          <a:bodyPr/>
          <a:p/>
        </p:txBody>
      </p:sp>
      <p:sp>
        <p:nvSpPr>
          <p:cNvPr id="10" name="Text 7"/>
          <p:cNvSpPr/>
          <p:nvPr/>
        </p:nvSpPr>
        <p:spPr>
          <a:xfrm>
            <a:off x="822960" y="5266944"/>
            <a:ext cx="3099816" cy="292608"/>
          </a:xfrm>
          <a:prstGeom prst="rect">
            <a:avLst/>
          </a:prstGeom>
          <a:noFill/>
          <a:ln/>
        </p:spPr>
        <p:txBody>
          <a:bodyPr wrap="square" lIns="0" tIns="0" rIns="0" bIns="0" rtlCol="0" anchor="ctr">
            <a:normAutofit/>
          </a:bodyPr>
          <a:lstStyle/>
          <a:p>
            <a:pPr indent="0" marL="0">
              <a:buNone/>
            </a:pPr>
            <a:r>
              <a:rPr lang="en-US" sz="1900" b="1" dirty="0">
                <a:solidFill>
                  <a:srgbClr val="16778A"/>
                </a:solidFill>
                <a:latin typeface="Aptos" pitchFamily="34" charset="0"/>
                <a:ea typeface="Aptos" pitchFamily="34" charset="-122"/>
                <a:cs typeface="Aptos" pitchFamily="34" charset="-120"/>
              </a:rPr>
              <a:t>Best C = 1.0</a:t>
            </a:r>
            <a:endParaRPr lang="en-US" sz="1900" dirty="0"/>
          </a:p>
        </p:txBody>
      </p:sp>
      <p:sp>
        <p:nvSpPr>
          <p:cNvPr id="11" name="Shape 8"/>
          <p:cNvSpPr/>
          <p:nvPr/>
        </p:nvSpPr>
        <p:spPr>
          <a:xfrm>
            <a:off x="4379976" y="5148072"/>
            <a:ext cx="3456432" cy="777240"/>
          </a:xfrm>
          <a:prstGeom prst="roundRect">
            <a:avLst>
              <a:gd name="adj" fmla="val 14118"/>
            </a:avLst>
          </a:prstGeom>
          <a:solidFill>
            <a:srgbClr val="F4F8F8"/>
          </a:solidFill>
          <a:ln w="12700">
            <a:solidFill>
              <a:srgbClr val="F4F8F8">
                <a:alpha val="0"/>
              </a:srgbClr>
            </a:solidFill>
            <a:prstDash val="solid"/>
          </a:ln>
        </p:spPr>
        <p:txBody>
          <a:bodyPr/>
          <a:p/>
        </p:txBody>
      </p:sp>
      <p:sp>
        <p:nvSpPr>
          <p:cNvPr id="12" name="Text 9"/>
          <p:cNvSpPr/>
          <p:nvPr/>
        </p:nvSpPr>
        <p:spPr>
          <a:xfrm>
            <a:off x="4590288" y="5294376"/>
            <a:ext cx="3026664" cy="237744"/>
          </a:xfrm>
          <a:prstGeom prst="rect">
            <a:avLst/>
          </a:prstGeom>
          <a:noFill/>
          <a:ln/>
        </p:spPr>
        <p:txBody>
          <a:bodyPr wrap="square" lIns="0" tIns="0" rIns="0" bIns="0" rtlCol="0" anchor="ctr">
            <a:normAutofit/>
          </a:bodyPr>
          <a:lstStyle/>
          <a:p>
            <a:pPr indent="0" marL="0">
              <a:buNone/>
            </a:pPr>
            <a:r>
              <a:rPr lang="en-US" sz="1630" b="1" dirty="0">
                <a:solidFill>
                  <a:srgbClr val="1D3540"/>
                </a:solidFill>
                <a:latin typeface="Aptos" pitchFamily="34" charset="0"/>
                <a:ea typeface="Aptos" pitchFamily="34" charset="-122"/>
                <a:cs typeface="Aptos" pitchFamily="34" charset="-120"/>
              </a:rPr>
              <a:t>Min. log-loss = 0.0723</a:t>
            </a:r>
            <a:endParaRPr lang="en-US" sz="1630" dirty="0"/>
          </a:p>
        </p:txBody>
      </p:sp>
      <p:sp>
        <p:nvSpPr>
          <p:cNvPr id="13" name="Shape 10"/>
          <p:cNvSpPr/>
          <p:nvPr/>
        </p:nvSpPr>
        <p:spPr>
          <a:xfrm>
            <a:off x="8119872" y="5148072"/>
            <a:ext cx="3456432" cy="777240"/>
          </a:xfrm>
          <a:prstGeom prst="roundRect">
            <a:avLst>
              <a:gd name="adj" fmla="val 14118"/>
            </a:avLst>
          </a:prstGeom>
          <a:solidFill>
            <a:srgbClr val="F4F8F8"/>
          </a:solidFill>
          <a:ln w="12700">
            <a:solidFill>
              <a:srgbClr val="F4F8F8">
                <a:alpha val="0"/>
              </a:srgbClr>
            </a:solidFill>
            <a:prstDash val="solid"/>
          </a:ln>
        </p:spPr>
        <p:txBody>
          <a:bodyPr/>
          <a:p/>
        </p:txBody>
      </p:sp>
      <p:sp>
        <p:nvSpPr>
          <p:cNvPr id="14" name="Text 11"/>
          <p:cNvSpPr/>
          <p:nvPr/>
        </p:nvSpPr>
        <p:spPr>
          <a:xfrm>
            <a:off x="8348472" y="5294376"/>
            <a:ext cx="2990088" cy="237744"/>
          </a:xfrm>
          <a:prstGeom prst="rect">
            <a:avLst/>
          </a:prstGeom>
          <a:noFill/>
          <a:ln/>
        </p:spPr>
        <p:txBody>
          <a:bodyPr wrap="square" lIns="0" tIns="0" rIns="0" bIns="0" rtlCol="0" anchor="ctr">
            <a:normAutofit/>
          </a:bodyPr>
          <a:lstStyle/>
          <a:p>
            <a:pPr indent="0" marL="0">
              <a:buNone/>
            </a:pPr>
            <a:r>
              <a:rPr lang="en-US" sz="1630" b="1" dirty="0">
                <a:solidFill>
                  <a:srgbClr val="1D3540"/>
                </a:solidFill>
                <a:latin typeface="Aptos" pitchFamily="34" charset="0"/>
                <a:ea typeface="Aptos" pitchFamily="34" charset="-122"/>
                <a:cs typeface="Aptos" pitchFamily="34" charset="-120"/>
              </a:rPr>
              <a:t>CV AUC = 0.9959</a:t>
            </a:r>
            <a:endParaRPr lang="en-US" sz="1630" dirty="0"/>
          </a:p>
        </p:txBody>
      </p:sp>
      <p:sp>
        <p:nvSpPr>
          <p:cNvPr id="15" name="Text 12"/>
          <p:cNvSpPr/>
          <p:nvPr/>
        </p:nvSpPr>
        <p:spPr>
          <a:xfrm>
            <a:off x="649224" y="6053328"/>
            <a:ext cx="10789920" cy="411480"/>
          </a:xfrm>
          <a:prstGeom prst="rect">
            <a:avLst/>
          </a:prstGeom>
          <a:noFill/>
          <a:ln/>
        </p:spPr>
        <p:txBody>
          <a:bodyPr wrap="square" lIns="0" tIns="0" rIns="0" bIns="0" rtlCol="0" anchor="ctr">
            <a:normAutofit/>
          </a:bodyPr>
          <a:lstStyle/>
          <a:p>
            <a:r>
              <a:rPr sz="1250"/>
              <a:t>What we found: C = 1.0 gave the lowest validation log-loss (0.0723) and highest AUC in our search (0.9959). We retained the default instead of changing a setting that already worked.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7  |  THRESHOLD OPTIMIZATION</a:t>
            </a:r>
            <a:endParaRPr lang="en-US" sz="1130" dirty="0"/>
          </a:p>
        </p:txBody>
      </p:sp>
      <p:sp>
        <p:nvSpPr>
          <p:cNvPr id="3" name="Text 1"/>
          <p:cNvSpPr/>
          <p:nvPr/>
        </p:nvSpPr>
        <p:spPr>
          <a:xfrm>
            <a:off x="530352" y="630936"/>
            <a:ext cx="11109960" cy="640080"/>
          </a:xfrm>
          <a:prstGeom prst="rect">
            <a:avLst/>
          </a:prstGeom>
          <a:noFill/>
          <a:ln/>
        </p:spPr>
        <p:txBody>
          <a:bodyPr wrap="square" lIns="0" tIns="0" rIns="0" bIns="0" rtlCol="0" anchor="ctr">
            <a:normAutofit/>
          </a:bodyPr>
          <a:lstStyle/>
          <a:p>
            <a:r>
              <a:rPr sz="2900"/>
              <a:t>Threshold tuning: lowering the cutoff increased false alarms</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chose threshold 0.45 by maximising F2 on out-of-fold training predictions. F2 assigns more importance to detecting malignant cases than avoiding false alarms.</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8</a:t>
            </a:r>
            <a:endParaRPr lang="en-US" sz="930" dirty="0"/>
          </a:p>
        </p:txBody>
      </p:sp>
      <p:pic>
        <p:nvPicPr>
          <p:cNvPr id="8" name="Image 0" descr="/mnt/data/bc_assets/threshold_clean.png">    </p:cNvPr>
          <p:cNvPicPr>
            <a:picLocks noChangeAspect="1"/>
          </p:cNvPicPr>
          <p:nvPr/>
        </p:nvPicPr>
        <p:blipFill>
          <a:blip r:embed="rId1"/>
          <a:stretch>
            <a:fillRect/>
          </a:stretch>
        </p:blipFill>
        <p:spPr>
          <a:xfrm>
            <a:off x="365760" y="2190921"/>
            <a:ext cx="6693408" cy="3244254"/>
          </a:xfrm>
          <a:prstGeom prst="rect">
            <a:avLst/>
          </a:prstGeom>
        </p:spPr>
      </p:pic>
      <p:sp>
        <p:nvSpPr>
          <p:cNvPr id="9" name="Text 6"/>
          <p:cNvSpPr/>
          <p:nvPr/>
        </p:nvSpPr>
        <p:spPr>
          <a:xfrm>
            <a:off x="7242048" y="1874520"/>
            <a:ext cx="4398264" cy="237744"/>
          </a:xfrm>
          <a:prstGeom prst="rect">
            <a:avLst/>
          </a:prstGeom>
          <a:noFill/>
          <a:ln/>
        </p:spPr>
        <p:txBody>
          <a:bodyPr wrap="square" lIns="0" tIns="0" rIns="0" bIns="0" rtlCol="0" anchor="ctr">
            <a:normAutofit/>
          </a:bodyPr>
          <a:lstStyle/>
          <a:p>
            <a:pPr indent="0" marL="0">
              <a:buNone/>
            </a:pPr>
            <a:r>
              <a:rPr lang="en-US" sz="1150" b="1" spc="140" kern="0" dirty="0">
                <a:solidFill>
                  <a:srgbClr val="16778A"/>
                </a:solidFill>
                <a:latin typeface="Aptos" pitchFamily="34" charset="0"/>
                <a:ea typeface="Aptos" pitchFamily="34" charset="-122"/>
                <a:cs typeface="Aptos" pitchFamily="34" charset="-120"/>
              </a:rPr>
              <a:t>TEST-SET EFFECT</a:t>
            </a:r>
            <a:endParaRPr lang="en-US" sz="1150" dirty="0"/>
          </a:p>
        </p:txBody>
      </p:sp>
      <p:sp>
        <p:nvSpPr>
          <p:cNvPr id="10" name="Shape 7"/>
          <p:cNvSpPr/>
          <p:nvPr/>
        </p:nvSpPr>
        <p:spPr>
          <a:xfrm>
            <a:off x="7242048" y="2240280"/>
            <a:ext cx="4389120" cy="685800"/>
          </a:xfrm>
          <a:prstGeom prst="roundRect">
            <a:avLst>
              <a:gd name="adj" fmla="val 16000"/>
            </a:avLst>
          </a:prstGeom>
          <a:solidFill>
            <a:srgbClr val="E9F4F3"/>
          </a:solidFill>
          <a:ln w="12700">
            <a:solidFill>
              <a:srgbClr val="E9F4F3">
                <a:alpha val="0"/>
              </a:srgbClr>
            </a:solidFill>
            <a:prstDash val="solid"/>
          </a:ln>
        </p:spPr>
        <p:txBody>
          <a:bodyPr/>
          <a:p/>
        </p:txBody>
      </p:sp>
      <p:sp>
        <p:nvSpPr>
          <p:cNvPr id="11" name="Text 8"/>
          <p:cNvSpPr/>
          <p:nvPr/>
        </p:nvSpPr>
        <p:spPr>
          <a:xfrm>
            <a:off x="7461504" y="2414016"/>
            <a:ext cx="2112264" cy="256032"/>
          </a:xfrm>
          <a:prstGeom prst="rect">
            <a:avLst/>
          </a:prstGeom>
          <a:noFill/>
          <a:ln/>
        </p:spPr>
        <p:txBody>
          <a:bodyPr wrap="square" lIns="0" tIns="0" rIns="0" bIns="0" rtlCol="0" anchor="ctr">
            <a:normAutofit/>
          </a:bodyPr>
          <a:lstStyle/>
          <a:p>
            <a:pPr indent="0" marL="0">
              <a:buNone/>
            </a:pPr>
            <a:r>
              <a:rPr lang="en-US" sz="1550" b="1" dirty="0">
                <a:solidFill>
                  <a:srgbClr val="1D3540"/>
                </a:solidFill>
                <a:latin typeface="Aptos" pitchFamily="34" charset="0"/>
                <a:ea typeface="Aptos" pitchFamily="34" charset="-122"/>
                <a:cs typeface="Aptos" pitchFamily="34" charset="-120"/>
              </a:rPr>
              <a:t>Threshold 0.50</a:t>
            </a:r>
            <a:endParaRPr lang="en-US" sz="1550" dirty="0"/>
          </a:p>
        </p:txBody>
      </p:sp>
      <p:sp>
        <p:nvSpPr>
          <p:cNvPr id="12" name="Text 9"/>
          <p:cNvSpPr/>
          <p:nvPr/>
        </p:nvSpPr>
        <p:spPr>
          <a:xfrm>
            <a:off x="9582912" y="2414016"/>
            <a:ext cx="1892808" cy="256032"/>
          </a:xfrm>
          <a:prstGeom prst="rect">
            <a:avLst/>
          </a:prstGeom>
          <a:noFill/>
          <a:ln/>
        </p:spPr>
        <p:txBody>
          <a:bodyPr wrap="square" lIns="0" tIns="0" rIns="0" bIns="0" rtlCol="0" anchor="ctr">
            <a:normAutofit/>
          </a:bodyPr>
          <a:lstStyle/>
          <a:p>
            <a:pPr indent="0" marL="0">
              <a:buNone/>
            </a:pPr>
            <a:r>
              <a:rPr lang="en-US" sz="1550" b="1" dirty="0">
                <a:solidFill>
                  <a:srgbClr val="C75D75"/>
                </a:solidFill>
                <a:latin typeface="Aptos" pitchFamily="34" charset="0"/>
                <a:ea typeface="Aptos" pitchFamily="34" charset="-122"/>
                <a:cs typeface="Aptos" pitchFamily="34" charset="-120"/>
              </a:rPr>
              <a:t>Threshold 0.45</a:t>
            </a:r>
            <a:endParaRPr lang="en-US" sz="1550" dirty="0"/>
          </a:p>
        </p:txBody>
      </p:sp>
      <p:sp>
        <p:nvSpPr>
          <p:cNvPr id="13" name="Shape 10"/>
          <p:cNvSpPr/>
          <p:nvPr/>
        </p:nvSpPr>
        <p:spPr>
          <a:xfrm>
            <a:off x="7306056" y="3456432"/>
            <a:ext cx="4197096" cy="0"/>
          </a:xfrm>
          <a:prstGeom prst="line">
            <a:avLst/>
          </a:prstGeom>
          <a:noFill/>
          <a:ln w="8255">
            <a:solidFill>
              <a:srgbClr val="DEE9EA"/>
            </a:solidFill>
            <a:prstDash val="solid"/>
          </a:ln>
        </p:spPr>
        <p:txBody>
          <a:bodyPr/>
          <a:p/>
        </p:txBody>
      </p:sp>
      <p:sp>
        <p:nvSpPr>
          <p:cNvPr id="14" name="Text 11"/>
          <p:cNvSpPr/>
          <p:nvPr/>
        </p:nvSpPr>
        <p:spPr>
          <a:xfrm>
            <a:off x="7324344" y="3090672"/>
            <a:ext cx="1901952" cy="347472"/>
          </a:xfrm>
          <a:prstGeom prst="rect">
            <a:avLst/>
          </a:prstGeom>
          <a:noFill/>
          <a:ln/>
        </p:spPr>
        <p:txBody>
          <a:bodyPr wrap="square" lIns="0" tIns="0" rIns="0" bIns="0" rtlCol="0" anchor="ctr">
            <a:normAutofit/>
          </a:bodyPr>
          <a:lstStyle/>
          <a:p>
            <a:pPr indent="0" marL="0">
              <a:buNone/>
            </a:pPr>
            <a:r>
              <a:rPr lang="en-US" sz="1190" dirty="0">
                <a:solidFill>
                  <a:srgbClr val="1D3540"/>
                </a:solidFill>
                <a:latin typeface="Aptos" pitchFamily="34" charset="0"/>
                <a:ea typeface="Aptos" pitchFamily="34" charset="-122"/>
                <a:cs typeface="Aptos" pitchFamily="34" charset="-120"/>
              </a:rPr>
              <a:t>Malignant caught</a:t>
            </a:r>
            <a:endParaRPr lang="en-US" sz="1190" dirty="0"/>
          </a:p>
        </p:txBody>
      </p:sp>
      <p:sp>
        <p:nvSpPr>
          <p:cNvPr id="15" name="Text 12"/>
          <p:cNvSpPr/>
          <p:nvPr/>
        </p:nvSpPr>
        <p:spPr>
          <a:xfrm>
            <a:off x="9262872" y="3090672"/>
            <a:ext cx="1014984" cy="347472"/>
          </a:xfrm>
          <a:prstGeom prst="rect">
            <a:avLst/>
          </a:prstGeom>
          <a:noFill/>
          <a:ln/>
        </p:spPr>
        <p:txBody>
          <a:bodyPr wrap="square" lIns="0" tIns="0" rIns="0" bIns="0" rtlCol="0" anchor="ctr">
            <a:normAutofit/>
          </a:bodyPr>
          <a:lstStyle/>
          <a:p>
            <a:pPr algn="ctr" indent="0" marL="0">
              <a:buNone/>
            </a:pPr>
            <a:r>
              <a:rPr lang="en-US" sz="1280" b="1" dirty="0">
                <a:solidFill>
                  <a:srgbClr val="1D3540"/>
                </a:solidFill>
                <a:latin typeface="Aptos" pitchFamily="34" charset="0"/>
                <a:ea typeface="Aptos" pitchFamily="34" charset="-122"/>
                <a:cs typeface="Aptos" pitchFamily="34" charset="-120"/>
              </a:rPr>
              <a:t>41 / 42</a:t>
            </a:r>
            <a:endParaRPr lang="en-US" sz="1280" dirty="0"/>
          </a:p>
        </p:txBody>
      </p:sp>
      <p:sp>
        <p:nvSpPr>
          <p:cNvPr id="16" name="Text 13"/>
          <p:cNvSpPr/>
          <p:nvPr/>
        </p:nvSpPr>
        <p:spPr>
          <a:xfrm>
            <a:off x="10424160" y="3090672"/>
            <a:ext cx="950976" cy="347472"/>
          </a:xfrm>
          <a:prstGeom prst="rect">
            <a:avLst/>
          </a:prstGeom>
          <a:noFill/>
          <a:ln/>
        </p:spPr>
        <p:txBody>
          <a:bodyPr wrap="square" lIns="0" tIns="0" rIns="0" bIns="0" rtlCol="0" anchor="ctr">
            <a:normAutofit/>
          </a:bodyPr>
          <a:lstStyle/>
          <a:p>
            <a:pPr algn="ctr" indent="0" marL="0">
              <a:buNone/>
            </a:pPr>
            <a:r>
              <a:rPr lang="en-US" sz="1280" b="1" dirty="0">
                <a:solidFill>
                  <a:srgbClr val="16778A"/>
                </a:solidFill>
                <a:latin typeface="Aptos" pitchFamily="34" charset="0"/>
                <a:ea typeface="Aptos" pitchFamily="34" charset="-122"/>
                <a:cs typeface="Aptos" pitchFamily="34" charset="-120"/>
              </a:rPr>
              <a:t>41 / 42</a:t>
            </a:r>
            <a:endParaRPr lang="en-US" sz="1280" dirty="0"/>
          </a:p>
        </p:txBody>
      </p:sp>
      <p:sp>
        <p:nvSpPr>
          <p:cNvPr id="17" name="Shape 14"/>
          <p:cNvSpPr/>
          <p:nvPr/>
        </p:nvSpPr>
        <p:spPr>
          <a:xfrm>
            <a:off x="7306056" y="3959352"/>
            <a:ext cx="4197096" cy="0"/>
          </a:xfrm>
          <a:prstGeom prst="line">
            <a:avLst/>
          </a:prstGeom>
          <a:noFill/>
          <a:ln w="8255">
            <a:solidFill>
              <a:srgbClr val="DEE9EA"/>
            </a:solidFill>
            <a:prstDash val="solid"/>
          </a:ln>
        </p:spPr>
        <p:txBody>
          <a:bodyPr/>
          <a:p/>
        </p:txBody>
      </p:sp>
      <p:sp>
        <p:nvSpPr>
          <p:cNvPr id="18" name="Text 15"/>
          <p:cNvSpPr/>
          <p:nvPr/>
        </p:nvSpPr>
        <p:spPr>
          <a:xfrm>
            <a:off x="7324344" y="3593592"/>
            <a:ext cx="1901952" cy="347472"/>
          </a:xfrm>
          <a:prstGeom prst="rect">
            <a:avLst/>
          </a:prstGeom>
          <a:noFill/>
          <a:ln/>
        </p:spPr>
        <p:txBody>
          <a:bodyPr wrap="square" lIns="0" tIns="0" rIns="0" bIns="0" rtlCol="0" anchor="ctr">
            <a:normAutofit/>
          </a:bodyPr>
          <a:lstStyle/>
          <a:p>
            <a:pPr indent="0" marL="0">
              <a:buNone/>
            </a:pPr>
            <a:r>
              <a:rPr lang="en-US" sz="1190" dirty="0">
                <a:solidFill>
                  <a:srgbClr val="1D3540"/>
                </a:solidFill>
                <a:latin typeface="Aptos" pitchFamily="34" charset="0"/>
                <a:ea typeface="Aptos" pitchFamily="34" charset="-122"/>
                <a:cs typeface="Aptos" pitchFamily="34" charset="-120"/>
              </a:rPr>
              <a:t>Malignant missed</a:t>
            </a:r>
            <a:endParaRPr lang="en-US" sz="1190" dirty="0"/>
          </a:p>
        </p:txBody>
      </p:sp>
      <p:sp>
        <p:nvSpPr>
          <p:cNvPr id="19" name="Text 16"/>
          <p:cNvSpPr/>
          <p:nvPr/>
        </p:nvSpPr>
        <p:spPr>
          <a:xfrm>
            <a:off x="9262872" y="3593592"/>
            <a:ext cx="1014984" cy="347472"/>
          </a:xfrm>
          <a:prstGeom prst="rect">
            <a:avLst/>
          </a:prstGeom>
          <a:noFill/>
          <a:ln/>
        </p:spPr>
        <p:txBody>
          <a:bodyPr wrap="square" lIns="0" tIns="0" rIns="0" bIns="0" rtlCol="0" anchor="ctr">
            <a:normAutofit/>
          </a:bodyPr>
          <a:lstStyle/>
          <a:p>
            <a:pPr algn="ctr" indent="0" marL="0">
              <a:buNone/>
            </a:pPr>
            <a:r>
              <a:rPr lang="en-US" sz="1280" b="1" dirty="0">
                <a:solidFill>
                  <a:srgbClr val="1D3540"/>
                </a:solidFill>
                <a:latin typeface="Aptos" pitchFamily="34" charset="0"/>
                <a:ea typeface="Aptos" pitchFamily="34" charset="-122"/>
                <a:cs typeface="Aptos" pitchFamily="34" charset="-120"/>
              </a:rPr>
              <a:t>1</a:t>
            </a:r>
            <a:endParaRPr lang="en-US" sz="1280" dirty="0"/>
          </a:p>
        </p:txBody>
      </p:sp>
      <p:sp>
        <p:nvSpPr>
          <p:cNvPr id="20" name="Text 17"/>
          <p:cNvSpPr/>
          <p:nvPr/>
        </p:nvSpPr>
        <p:spPr>
          <a:xfrm>
            <a:off x="10424160" y="3593592"/>
            <a:ext cx="950976" cy="347472"/>
          </a:xfrm>
          <a:prstGeom prst="rect">
            <a:avLst/>
          </a:prstGeom>
          <a:noFill/>
          <a:ln/>
        </p:spPr>
        <p:txBody>
          <a:bodyPr wrap="square" lIns="0" tIns="0" rIns="0" bIns="0" rtlCol="0" anchor="ctr">
            <a:normAutofit/>
          </a:bodyPr>
          <a:lstStyle/>
          <a:p>
            <a:pPr algn="ctr" indent="0" marL="0">
              <a:buNone/>
            </a:pPr>
            <a:r>
              <a:rPr lang="en-US" sz="1280" b="1" dirty="0">
                <a:solidFill>
                  <a:srgbClr val="16778A"/>
                </a:solidFill>
                <a:latin typeface="Aptos" pitchFamily="34" charset="0"/>
                <a:ea typeface="Aptos" pitchFamily="34" charset="-122"/>
                <a:cs typeface="Aptos" pitchFamily="34" charset="-120"/>
              </a:rPr>
              <a:t>1</a:t>
            </a:r>
            <a:endParaRPr lang="en-US" sz="1280" dirty="0"/>
          </a:p>
        </p:txBody>
      </p:sp>
      <p:sp>
        <p:nvSpPr>
          <p:cNvPr id="21" name="Shape 18"/>
          <p:cNvSpPr/>
          <p:nvPr/>
        </p:nvSpPr>
        <p:spPr>
          <a:xfrm>
            <a:off x="7306056" y="4462272"/>
            <a:ext cx="4197096" cy="0"/>
          </a:xfrm>
          <a:prstGeom prst="line">
            <a:avLst/>
          </a:prstGeom>
          <a:noFill/>
          <a:ln w="8255">
            <a:solidFill>
              <a:srgbClr val="DEE9EA"/>
            </a:solidFill>
            <a:prstDash val="solid"/>
          </a:ln>
        </p:spPr>
        <p:txBody>
          <a:bodyPr/>
          <a:p/>
        </p:txBody>
      </p:sp>
      <p:sp>
        <p:nvSpPr>
          <p:cNvPr id="22" name="Text 19"/>
          <p:cNvSpPr/>
          <p:nvPr/>
        </p:nvSpPr>
        <p:spPr>
          <a:xfrm>
            <a:off x="7324344" y="4096512"/>
            <a:ext cx="1901952" cy="347472"/>
          </a:xfrm>
          <a:prstGeom prst="rect">
            <a:avLst/>
          </a:prstGeom>
          <a:noFill/>
          <a:ln/>
        </p:spPr>
        <p:txBody>
          <a:bodyPr wrap="square" lIns="0" tIns="0" rIns="0" bIns="0" rtlCol="0" anchor="ctr">
            <a:normAutofit/>
          </a:bodyPr>
          <a:lstStyle/>
          <a:p>
            <a:pPr indent="0" marL="0">
              <a:buNone/>
            </a:pPr>
            <a:r>
              <a:rPr lang="en-US" sz="1190" dirty="0">
                <a:solidFill>
                  <a:srgbClr val="1D3540"/>
                </a:solidFill>
                <a:latin typeface="Aptos" pitchFamily="34" charset="0"/>
                <a:ea typeface="Aptos" pitchFamily="34" charset="-122"/>
                <a:cs typeface="Aptos" pitchFamily="34" charset="-120"/>
              </a:rPr>
              <a:t>Benign falsely flagged</a:t>
            </a:r>
            <a:endParaRPr lang="en-US" sz="1190" dirty="0"/>
          </a:p>
        </p:txBody>
      </p:sp>
      <p:sp>
        <p:nvSpPr>
          <p:cNvPr id="23" name="Text 20"/>
          <p:cNvSpPr/>
          <p:nvPr/>
        </p:nvSpPr>
        <p:spPr>
          <a:xfrm>
            <a:off x="9262872" y="4096512"/>
            <a:ext cx="1014984" cy="347472"/>
          </a:xfrm>
          <a:prstGeom prst="rect">
            <a:avLst/>
          </a:prstGeom>
          <a:noFill/>
          <a:ln/>
        </p:spPr>
        <p:txBody>
          <a:bodyPr wrap="square" lIns="0" tIns="0" rIns="0" bIns="0" rtlCol="0" anchor="ctr">
            <a:normAutofit/>
          </a:bodyPr>
          <a:lstStyle/>
          <a:p>
            <a:pPr algn="ctr" indent="0" marL="0">
              <a:buNone/>
            </a:pPr>
            <a:r>
              <a:rPr lang="en-US" sz="1280" b="1" dirty="0">
                <a:solidFill>
                  <a:srgbClr val="1D3540"/>
                </a:solidFill>
                <a:latin typeface="Aptos" pitchFamily="34" charset="0"/>
                <a:ea typeface="Aptos" pitchFamily="34" charset="-122"/>
                <a:cs typeface="Aptos" pitchFamily="34" charset="-120"/>
              </a:rPr>
              <a:t>1</a:t>
            </a:r>
            <a:endParaRPr lang="en-US" sz="1280" dirty="0"/>
          </a:p>
        </p:txBody>
      </p:sp>
      <p:sp>
        <p:nvSpPr>
          <p:cNvPr id="24" name="Text 21"/>
          <p:cNvSpPr/>
          <p:nvPr/>
        </p:nvSpPr>
        <p:spPr>
          <a:xfrm>
            <a:off x="10424160" y="4096512"/>
            <a:ext cx="950976" cy="347472"/>
          </a:xfrm>
          <a:prstGeom prst="rect">
            <a:avLst/>
          </a:prstGeom>
          <a:noFill/>
          <a:ln/>
        </p:spPr>
        <p:txBody>
          <a:bodyPr wrap="square" lIns="0" tIns="0" rIns="0" bIns="0" rtlCol="0" anchor="ctr">
            <a:normAutofit/>
          </a:bodyPr>
          <a:lstStyle/>
          <a:p>
            <a:pPr algn="ctr" indent="0" marL="0">
              <a:buNone/>
            </a:pPr>
            <a:r>
              <a:rPr lang="en-US" sz="1280" b="1" dirty="0">
                <a:solidFill>
                  <a:srgbClr val="C75D75"/>
                </a:solidFill>
                <a:latin typeface="Aptos" pitchFamily="34" charset="0"/>
                <a:ea typeface="Aptos" pitchFamily="34" charset="-122"/>
                <a:cs typeface="Aptos" pitchFamily="34" charset="-120"/>
              </a:rPr>
              <a:t>4</a:t>
            </a:r>
            <a:endParaRPr lang="en-US" sz="1280" dirty="0"/>
          </a:p>
        </p:txBody>
      </p:sp>
      <p:sp>
        <p:nvSpPr>
          <p:cNvPr id="25" name="Shape 22"/>
          <p:cNvSpPr/>
          <p:nvPr/>
        </p:nvSpPr>
        <p:spPr>
          <a:xfrm>
            <a:off x="7306056" y="4965192"/>
            <a:ext cx="4197096" cy="0"/>
          </a:xfrm>
          <a:prstGeom prst="line">
            <a:avLst/>
          </a:prstGeom>
          <a:noFill/>
          <a:ln w="8255">
            <a:solidFill>
              <a:srgbClr val="DEE9EA"/>
            </a:solidFill>
            <a:prstDash val="solid"/>
          </a:ln>
        </p:spPr>
        <p:txBody>
          <a:bodyPr/>
          <a:p/>
        </p:txBody>
      </p:sp>
      <p:sp>
        <p:nvSpPr>
          <p:cNvPr id="26" name="Text 23"/>
          <p:cNvSpPr/>
          <p:nvPr/>
        </p:nvSpPr>
        <p:spPr>
          <a:xfrm>
            <a:off x="7324344" y="4599432"/>
            <a:ext cx="1901952" cy="347472"/>
          </a:xfrm>
          <a:prstGeom prst="rect">
            <a:avLst/>
          </a:prstGeom>
          <a:noFill/>
          <a:ln/>
        </p:spPr>
        <p:txBody>
          <a:bodyPr wrap="square" lIns="0" tIns="0" rIns="0" bIns="0" rtlCol="0" anchor="ctr">
            <a:normAutofit/>
          </a:bodyPr>
          <a:lstStyle/>
          <a:p>
            <a:pPr indent="0" marL="0">
              <a:buNone/>
            </a:pPr>
            <a:r>
              <a:rPr lang="en-US" sz="1190" dirty="0">
                <a:solidFill>
                  <a:srgbClr val="1D3540"/>
                </a:solidFill>
                <a:latin typeface="Aptos" pitchFamily="34" charset="0"/>
                <a:ea typeface="Aptos" pitchFamily="34" charset="-122"/>
                <a:cs typeface="Aptos" pitchFamily="34" charset="-120"/>
              </a:rPr>
              <a:t>Overall accuracy</a:t>
            </a:r>
            <a:endParaRPr lang="en-US" sz="1190" dirty="0"/>
          </a:p>
        </p:txBody>
      </p:sp>
      <p:sp>
        <p:nvSpPr>
          <p:cNvPr id="27" name="Text 24"/>
          <p:cNvSpPr/>
          <p:nvPr/>
        </p:nvSpPr>
        <p:spPr>
          <a:xfrm>
            <a:off x="9262872" y="4599432"/>
            <a:ext cx="1014984" cy="347472"/>
          </a:xfrm>
          <a:prstGeom prst="rect">
            <a:avLst/>
          </a:prstGeom>
          <a:noFill/>
          <a:ln/>
        </p:spPr>
        <p:txBody>
          <a:bodyPr wrap="square" lIns="0" tIns="0" rIns="0" bIns="0" rtlCol="0" anchor="ctr">
            <a:normAutofit/>
          </a:bodyPr>
          <a:lstStyle/>
          <a:p>
            <a:pPr algn="ctr" indent="0" marL="0">
              <a:buNone/>
            </a:pPr>
            <a:r>
              <a:rPr lang="en-US" sz="1280" b="1" dirty="0">
                <a:solidFill>
                  <a:srgbClr val="1D3540"/>
                </a:solidFill>
                <a:latin typeface="Aptos" pitchFamily="34" charset="0"/>
                <a:ea typeface="Aptos" pitchFamily="34" charset="-122"/>
                <a:cs typeface="Aptos" pitchFamily="34" charset="-120"/>
              </a:rPr>
              <a:t>98.25%</a:t>
            </a:r>
            <a:endParaRPr lang="en-US" sz="1280" dirty="0"/>
          </a:p>
        </p:txBody>
      </p:sp>
      <p:sp>
        <p:nvSpPr>
          <p:cNvPr id="28" name="Text 25"/>
          <p:cNvSpPr/>
          <p:nvPr/>
        </p:nvSpPr>
        <p:spPr>
          <a:xfrm>
            <a:off x="10424160" y="4599432"/>
            <a:ext cx="950976" cy="347472"/>
          </a:xfrm>
          <a:prstGeom prst="rect">
            <a:avLst/>
          </a:prstGeom>
          <a:noFill/>
          <a:ln/>
        </p:spPr>
        <p:txBody>
          <a:bodyPr wrap="square" lIns="0" tIns="0" rIns="0" bIns="0" rtlCol="0" anchor="ctr">
            <a:normAutofit/>
          </a:bodyPr>
          <a:lstStyle/>
          <a:p>
            <a:pPr algn="ctr" indent="0" marL="0">
              <a:buNone/>
            </a:pPr>
            <a:r>
              <a:rPr lang="en-US" sz="1280" b="1" dirty="0">
                <a:solidFill>
                  <a:srgbClr val="C75D75"/>
                </a:solidFill>
                <a:latin typeface="Aptos" pitchFamily="34" charset="0"/>
                <a:ea typeface="Aptos" pitchFamily="34" charset="-122"/>
                <a:cs typeface="Aptos" pitchFamily="34" charset="-120"/>
              </a:rPr>
              <a:t>95.61%</a:t>
            </a:r>
            <a:endParaRPr lang="en-US" sz="1280" dirty="0"/>
          </a:p>
        </p:txBody>
      </p:sp>
      <p:sp>
        <p:nvSpPr>
          <p:cNvPr id="29" name="Shape 26"/>
          <p:cNvSpPr/>
          <p:nvPr/>
        </p:nvSpPr>
        <p:spPr>
          <a:xfrm>
            <a:off x="7242048" y="5230368"/>
            <a:ext cx="4389120" cy="777240"/>
          </a:xfrm>
          <a:prstGeom prst="roundRect">
            <a:avLst>
              <a:gd name="adj" fmla="val 14118"/>
            </a:avLst>
          </a:prstGeom>
          <a:solidFill>
            <a:srgbClr val="FAEFF0"/>
          </a:solidFill>
          <a:ln w="12700">
            <a:solidFill>
              <a:srgbClr val="FAEFF0">
                <a:alpha val="0"/>
              </a:srgbClr>
            </a:solidFill>
            <a:prstDash val="solid"/>
          </a:ln>
        </p:spPr>
        <p:txBody>
          <a:bodyPr/>
          <a:p/>
        </p:txBody>
      </p:sp>
      <p:sp>
        <p:nvSpPr>
          <p:cNvPr id="30" name="Text 27"/>
          <p:cNvSpPr/>
          <p:nvPr/>
        </p:nvSpPr>
        <p:spPr>
          <a:xfrm>
            <a:off x="7424928" y="5349240"/>
            <a:ext cx="4050792" cy="640080"/>
          </a:xfrm>
          <a:prstGeom prst="rect">
            <a:avLst/>
          </a:prstGeom>
          <a:noFill/>
          <a:ln/>
        </p:spPr>
        <p:txBody>
          <a:bodyPr wrap="square" lIns="0" tIns="0" rIns="0" bIns="0" rtlCol="0" anchor="ctr">
            <a:normAutofit/>
          </a:bodyPr>
          <a:lstStyle/>
          <a:p>
            <a:r>
              <a:rPr sz="1310"/>
              <a:t>On the unseen test set, both thresholds detected 41 of 42 malignant cases. The 0.45 cutoff flagged 3 additional benign cases incorrectly, so we retained 0.50.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8  |  THIRD MODEL</a:t>
            </a:r>
            <a:endParaRPr lang="en-US" sz="1130" dirty="0"/>
          </a:p>
        </p:txBody>
      </p:sp>
      <p:sp>
        <p:nvSpPr>
          <p:cNvPr id="3" name="Text 1"/>
          <p:cNvSpPr/>
          <p:nvPr/>
        </p:nvSpPr>
        <p:spPr>
          <a:xfrm>
            <a:off x="530352" y="630936"/>
            <a:ext cx="11109960" cy="640080"/>
          </a:xfrm>
          <a:prstGeom prst="rect">
            <a:avLst/>
          </a:prstGeom>
          <a:noFill/>
          <a:ln/>
        </p:spPr>
        <p:txBody>
          <a:bodyPr wrap="square" lIns="0" tIns="0" rIns="0" bIns="0" rtlCol="0" anchor="ctr">
            <a:normAutofit/>
          </a:bodyPr>
          <a:lstStyle/>
          <a:p>
            <a:r>
              <a:rPr sz="2900"/>
              <a:t>Random Forest: a third, non-linear comparison model</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trained a Random Forest that combines many decision trees. Unlike the other models, it can capture non-linear interactions without assuming independent features.</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9</a:t>
            </a:r>
            <a:endParaRPr lang="en-US" sz="930" dirty="0"/>
          </a:p>
        </p:txBody>
      </p:sp>
      <p:pic>
        <p:nvPicPr>
          <p:cNvPr id="8" name="Image 0" descr="/mnt/data/bc_assets/three_model_metrics.png">    </p:cNvPr>
          <p:cNvPicPr>
            <a:picLocks noChangeAspect="1"/>
          </p:cNvPicPr>
          <p:nvPr/>
        </p:nvPicPr>
        <p:blipFill>
          <a:blip r:embed="rId1"/>
          <a:stretch>
            <a:fillRect/>
          </a:stretch>
        </p:blipFill>
        <p:spPr>
          <a:xfrm>
            <a:off x="548640" y="2368339"/>
            <a:ext cx="7370064" cy="2413929"/>
          </a:xfrm>
          <a:prstGeom prst="rect">
            <a:avLst/>
          </a:prstGeom>
        </p:spPr>
      </p:pic>
      <p:sp>
        <p:nvSpPr>
          <p:cNvPr id="9" name="Shape 6"/>
          <p:cNvSpPr/>
          <p:nvPr/>
        </p:nvSpPr>
        <p:spPr>
          <a:xfrm>
            <a:off x="8119872" y="1837944"/>
            <a:ext cx="3383280" cy="1115568"/>
          </a:xfrm>
          <a:prstGeom prst="roundRect">
            <a:avLst>
              <a:gd name="adj" fmla="val 9836"/>
            </a:avLst>
          </a:prstGeom>
          <a:solidFill>
            <a:srgbClr val="E9F4F3"/>
          </a:solidFill>
          <a:ln w="12700">
            <a:solidFill>
              <a:srgbClr val="E9F4F3">
                <a:alpha val="0"/>
              </a:srgbClr>
            </a:solidFill>
            <a:prstDash val="solid"/>
          </a:ln>
        </p:spPr>
        <p:txBody>
          <a:bodyPr/>
          <a:p/>
        </p:txBody>
      </p:sp>
      <p:sp>
        <p:nvSpPr>
          <p:cNvPr id="10" name="Text 7"/>
          <p:cNvSpPr/>
          <p:nvPr/>
        </p:nvSpPr>
        <p:spPr>
          <a:xfrm>
            <a:off x="8302752" y="2002536"/>
            <a:ext cx="3017520"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95.61%</a:t>
            </a:r>
            <a:endParaRPr lang="en-US" sz="2500" dirty="0"/>
          </a:p>
        </p:txBody>
      </p:sp>
      <p:sp>
        <p:nvSpPr>
          <p:cNvPr id="11" name="Text 8"/>
          <p:cNvSpPr/>
          <p:nvPr/>
        </p:nvSpPr>
        <p:spPr>
          <a:xfrm>
            <a:off x="8302752" y="2569464"/>
            <a:ext cx="3017520" cy="310896"/>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Random Forest test accuracy (109 / 114 correct)</a:t>
            </a:r>
            <a:endParaRPr lang="en-US" sz="1210" dirty="0"/>
          </a:p>
        </p:txBody>
      </p:sp>
      <p:sp>
        <p:nvSpPr>
          <p:cNvPr id="12" name="Shape 9"/>
          <p:cNvSpPr/>
          <p:nvPr/>
        </p:nvSpPr>
        <p:spPr>
          <a:xfrm>
            <a:off x="8119872" y="3154680"/>
            <a:ext cx="3383280" cy="1115568"/>
          </a:xfrm>
          <a:prstGeom prst="roundRect">
            <a:avLst>
              <a:gd name="adj" fmla="val 9836"/>
            </a:avLst>
          </a:prstGeom>
          <a:solidFill>
            <a:srgbClr val="F1F7F7"/>
          </a:solidFill>
          <a:ln w="12700">
            <a:solidFill>
              <a:srgbClr val="F1F7F7">
                <a:alpha val="0"/>
              </a:srgbClr>
            </a:solidFill>
            <a:prstDash val="solid"/>
          </a:ln>
        </p:spPr>
        <p:txBody>
          <a:bodyPr/>
          <a:p/>
        </p:txBody>
      </p:sp>
      <p:sp>
        <p:nvSpPr>
          <p:cNvPr id="13" name="Text 10"/>
          <p:cNvSpPr/>
          <p:nvPr/>
        </p:nvSpPr>
        <p:spPr>
          <a:xfrm>
            <a:off x="8302752" y="3319272"/>
            <a:ext cx="3017520" cy="457200"/>
          </a:xfrm>
          <a:prstGeom prst="rect">
            <a:avLst/>
          </a:prstGeom>
          <a:noFill/>
          <a:ln/>
        </p:spPr>
        <p:txBody>
          <a:bodyPr wrap="square" lIns="0" tIns="0" rIns="0" bIns="0" rtlCol="0" anchor="ctr">
            <a:normAutofit/>
          </a:bodyPr>
          <a:lstStyle/>
          <a:p>
            <a:pPr indent="0" marL="0">
              <a:buNone/>
            </a:pPr>
            <a:r>
              <a:rPr lang="en-US" sz="2500" b="1" dirty="0">
                <a:solidFill>
                  <a:srgbClr val="16778A"/>
                </a:solidFill>
                <a:latin typeface="Georgia" pitchFamily="34" charset="0"/>
                <a:ea typeface="Georgia" pitchFamily="34" charset="-122"/>
                <a:cs typeface="Georgia" pitchFamily="34" charset="-120"/>
              </a:rPr>
              <a:t>0.9931</a:t>
            </a:r>
            <a:endParaRPr lang="en-US" sz="2500" dirty="0"/>
          </a:p>
        </p:txBody>
      </p:sp>
      <p:sp>
        <p:nvSpPr>
          <p:cNvPr id="14" name="Text 11"/>
          <p:cNvSpPr/>
          <p:nvPr/>
        </p:nvSpPr>
        <p:spPr>
          <a:xfrm>
            <a:off x="8302752" y="3886200"/>
            <a:ext cx="3017520" cy="310896"/>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Random Forest test ROC-AUC</a:t>
            </a:r>
            <a:endParaRPr lang="en-US" sz="1210" dirty="0"/>
          </a:p>
        </p:txBody>
      </p:sp>
      <p:sp>
        <p:nvSpPr>
          <p:cNvPr id="15" name="Shape 12"/>
          <p:cNvSpPr/>
          <p:nvPr/>
        </p:nvSpPr>
        <p:spPr>
          <a:xfrm>
            <a:off x="8119872" y="4453128"/>
            <a:ext cx="3383280" cy="1115568"/>
          </a:xfrm>
          <a:prstGeom prst="roundRect">
            <a:avLst>
              <a:gd name="adj" fmla="val 9836"/>
            </a:avLst>
          </a:prstGeom>
          <a:solidFill>
            <a:srgbClr val="FAEFF0"/>
          </a:solidFill>
          <a:ln w="12700">
            <a:solidFill>
              <a:srgbClr val="FAEFF0">
                <a:alpha val="0"/>
              </a:srgbClr>
            </a:solidFill>
            <a:prstDash val="solid"/>
          </a:ln>
        </p:spPr>
        <p:txBody>
          <a:bodyPr/>
          <a:p/>
        </p:txBody>
      </p:sp>
      <p:sp>
        <p:nvSpPr>
          <p:cNvPr id="16" name="Text 13"/>
          <p:cNvSpPr/>
          <p:nvPr/>
        </p:nvSpPr>
        <p:spPr>
          <a:xfrm>
            <a:off x="8302752" y="4617720"/>
            <a:ext cx="3017520" cy="457200"/>
          </a:xfrm>
          <a:prstGeom prst="rect">
            <a:avLst/>
          </a:prstGeom>
          <a:noFill/>
          <a:ln/>
        </p:spPr>
        <p:txBody>
          <a:bodyPr wrap="square" lIns="0" tIns="0" rIns="0" bIns="0" rtlCol="0" anchor="ctr">
            <a:normAutofit/>
          </a:bodyPr>
          <a:lstStyle/>
          <a:p>
            <a:pPr indent="0" marL="0">
              <a:buNone/>
            </a:pPr>
            <a:r>
              <a:rPr lang="en-US" sz="2500" b="1" dirty="0">
                <a:solidFill>
                  <a:srgbClr val="C75D75"/>
                </a:solidFill>
                <a:latin typeface="Georgia" pitchFamily="34" charset="0"/>
                <a:ea typeface="Georgia" pitchFamily="34" charset="-122"/>
                <a:cs typeface="Georgia" pitchFamily="34" charset="-120"/>
              </a:rPr>
              <a:t>3 of 42</a:t>
            </a:r>
            <a:endParaRPr lang="en-US" sz="2500" dirty="0"/>
          </a:p>
        </p:txBody>
      </p:sp>
      <p:sp>
        <p:nvSpPr>
          <p:cNvPr id="17" name="Text 14"/>
          <p:cNvSpPr/>
          <p:nvPr/>
        </p:nvSpPr>
        <p:spPr>
          <a:xfrm>
            <a:off x="8302752" y="5184648"/>
            <a:ext cx="3017520" cy="310896"/>
          </a:xfrm>
          <a:prstGeom prst="rect">
            <a:avLst/>
          </a:prstGeom>
          <a:noFill/>
          <a:ln/>
        </p:spPr>
        <p:txBody>
          <a:bodyPr wrap="square" lIns="0" tIns="0" rIns="0" bIns="0" rtlCol="0" anchor="t">
            <a:normAutofit/>
          </a:bodyPr>
          <a:lstStyle/>
          <a:p>
            <a:pPr indent="0" marL="0">
              <a:buNone/>
            </a:pPr>
            <a:r>
              <a:rPr lang="en-US" sz="1210" dirty="0">
                <a:solidFill>
                  <a:srgbClr val="1D3540"/>
                </a:solidFill>
                <a:latin typeface="Aptos" pitchFamily="34" charset="0"/>
                <a:ea typeface="Aptos" pitchFamily="34" charset="-122"/>
                <a:cs typeface="Aptos" pitchFamily="34" charset="-120"/>
              </a:rPr>
              <a:t>Malignant cases missed by Random Forest</a:t>
            </a:r>
            <a:endParaRPr lang="en-US" sz="1210" dirty="0"/>
          </a:p>
        </p:txBody>
      </p:sp>
      <p:sp>
        <p:nvSpPr>
          <p:cNvPr id="18" name="Shape 15"/>
          <p:cNvSpPr/>
          <p:nvPr/>
        </p:nvSpPr>
        <p:spPr>
          <a:xfrm>
            <a:off x="667512" y="5678424"/>
            <a:ext cx="10716768" cy="484632"/>
          </a:xfrm>
          <a:prstGeom prst="roundRect">
            <a:avLst>
              <a:gd name="adj" fmla="val 22642"/>
            </a:avLst>
          </a:prstGeom>
          <a:solidFill>
            <a:srgbClr val="E9F4F3"/>
          </a:solidFill>
          <a:ln w="12700">
            <a:solidFill>
              <a:srgbClr val="E9F4F3">
                <a:alpha val="0"/>
              </a:srgbClr>
            </a:solidFill>
            <a:prstDash val="solid"/>
          </a:ln>
        </p:spPr>
        <p:txBody>
          <a:bodyPr/>
          <a:p/>
        </p:txBody>
      </p:sp>
      <p:sp>
        <p:nvSpPr>
          <p:cNvPr id="19" name="Text 16"/>
          <p:cNvSpPr/>
          <p:nvPr/>
        </p:nvSpPr>
        <p:spPr>
          <a:xfrm>
            <a:off x="859536" y="5742432"/>
            <a:ext cx="10323576" cy="411480"/>
          </a:xfrm>
          <a:prstGeom prst="rect">
            <a:avLst/>
          </a:prstGeom>
          <a:noFill/>
          <a:ln/>
        </p:spPr>
        <p:txBody>
          <a:bodyPr wrap="square" lIns="0" tIns="0" rIns="0" bIns="0" rtlCol="0" anchor="ctr">
            <a:normAutofit/>
          </a:bodyPr>
          <a:lstStyle/>
          <a:p>
            <a:r>
              <a:rPr sz="1250"/>
              <a:t>Random Forest achieved 95.61% accuracy and 0.9931 AUC on the test set, but missed 3 malignant cases. Logistic Regression still led with 98.25% accuracy and only 1 missed malignancy.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9  |  EXPLAINABILITY</a:t>
            </a:r>
            <a:endParaRPr lang="en-US" sz="1130" dirty="0"/>
          </a:p>
        </p:txBody>
      </p:sp>
      <p:sp>
        <p:nvSpPr>
          <p:cNvPr id="3" name="Text 1"/>
          <p:cNvSpPr/>
          <p:nvPr/>
        </p:nvSpPr>
        <p:spPr>
          <a:xfrm>
            <a:off x="530352" y="630936"/>
            <a:ext cx="11109960" cy="640080"/>
          </a:xfrm>
          <a:prstGeom prst="rect">
            <a:avLst/>
          </a:prstGeom>
          <a:noFill/>
          <a:ln/>
        </p:spPr>
        <p:txBody>
          <a:bodyPr wrap="square" lIns="0" tIns="0" rIns="0" bIns="0" rtlCol="0" anchor="ctr">
            <a:normAutofit/>
          </a:bodyPr>
          <a:lstStyle/>
          <a:p>
            <a:r>
              <a:rPr sz="2900"/>
              <a:t>SHAP explained the Random Forest predictions</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used SHAP to estimate how much each measurement shifted a prediction toward malignant or benign. The bars show average influence; the dot plot shows the direction and variation.</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10</a:t>
            </a:r>
            <a:endParaRPr lang="en-US" sz="930" dirty="0"/>
          </a:p>
        </p:txBody>
      </p:sp>
      <p:sp>
        <p:nvSpPr>
          <p:cNvPr id="8" name="Shape 6"/>
          <p:cNvSpPr/>
          <p:nvPr/>
        </p:nvSpPr>
        <p:spPr>
          <a:xfrm>
            <a:off x="521208" y="1700784"/>
            <a:ext cx="5650992" cy="4251960"/>
          </a:xfrm>
          <a:prstGeom prst="roundRect">
            <a:avLst>
              <a:gd name="adj" fmla="val 2581"/>
            </a:avLst>
          </a:prstGeom>
          <a:solidFill>
            <a:srgbClr val="FAFBFB"/>
          </a:solidFill>
          <a:ln w="12700">
            <a:solidFill>
              <a:srgbClr val="FAFBFB">
                <a:alpha val="0"/>
              </a:srgbClr>
            </a:solidFill>
            <a:prstDash val="solid"/>
          </a:ln>
        </p:spPr>
        <p:txBody>
          <a:bodyPr/>
          <a:p/>
        </p:txBody>
      </p:sp>
      <p:pic>
        <p:nvPicPr>
          <p:cNvPr id="9" name="Image 0" descr="/mnt/data/bc_assets/shap_bar_cropped.png">    </p:cNvPr>
          <p:cNvPicPr>
            <a:picLocks noChangeAspect="1"/>
          </p:cNvPicPr>
          <p:nvPr/>
        </p:nvPicPr>
        <p:blipFill>
          <a:blip r:embed="rId1"/>
          <a:stretch>
            <a:fillRect/>
          </a:stretch>
        </p:blipFill>
        <p:spPr>
          <a:xfrm>
            <a:off x="585216" y="2147666"/>
            <a:ext cx="5513832" cy="3303332"/>
          </a:xfrm>
          <a:prstGeom prst="rect">
            <a:avLst/>
          </a:prstGeom>
        </p:spPr>
      </p:pic>
      <p:sp>
        <p:nvSpPr>
          <p:cNvPr id="10" name="Shape 7"/>
          <p:cNvSpPr/>
          <p:nvPr/>
        </p:nvSpPr>
        <p:spPr>
          <a:xfrm>
            <a:off x="6272784" y="1700784"/>
            <a:ext cx="5394960" cy="4251960"/>
          </a:xfrm>
          <a:prstGeom prst="roundRect">
            <a:avLst>
              <a:gd name="adj" fmla="val 2581"/>
            </a:avLst>
          </a:prstGeom>
          <a:solidFill>
            <a:srgbClr val="FAFBFB"/>
          </a:solidFill>
          <a:ln w="12700">
            <a:solidFill>
              <a:srgbClr val="FAFBFB">
                <a:alpha val="0"/>
              </a:srgbClr>
            </a:solidFill>
            <a:prstDash val="solid"/>
          </a:ln>
        </p:spPr>
        <p:txBody>
          <a:bodyPr/>
          <a:p/>
        </p:txBody>
      </p:sp>
      <p:pic>
        <p:nvPicPr>
          <p:cNvPr id="11" name="Image 1" descr="/mnt/data/bc_assets/shap_beeswarm_cropped.png">    </p:cNvPr>
          <p:cNvPicPr>
            <a:picLocks noChangeAspect="1"/>
          </p:cNvPicPr>
          <p:nvPr/>
        </p:nvPicPr>
        <p:blipFill>
          <a:blip r:embed="rId2"/>
          <a:stretch>
            <a:fillRect/>
          </a:stretch>
        </p:blipFill>
        <p:spPr>
          <a:xfrm>
            <a:off x="6364224" y="2284419"/>
            <a:ext cx="5212080" cy="3029826"/>
          </a:xfrm>
          <a:prstGeom prst="rect">
            <a:avLst/>
          </a:prstGeom>
        </p:spPr>
      </p:pic>
      <p:sp>
        <p:nvSpPr>
          <p:cNvPr id="12" name="Text 8"/>
          <p:cNvSpPr/>
          <p:nvPr/>
        </p:nvSpPr>
        <p:spPr>
          <a:xfrm>
            <a:off x="758952" y="5760720"/>
            <a:ext cx="5340096" cy="228600"/>
          </a:xfrm>
          <a:prstGeom prst="rect">
            <a:avLst/>
          </a:prstGeom>
          <a:noFill/>
          <a:ln/>
        </p:spPr>
        <p:txBody>
          <a:bodyPr wrap="square" lIns="0" tIns="0" rIns="0" bIns="0" rtlCol="0" anchor="ctr">
            <a:normAutofit/>
          </a:bodyPr>
          <a:lstStyle/>
          <a:p>
            <a:pPr indent="0" marL="0">
              <a:buNone/>
            </a:pPr>
            <a:r>
              <a:rPr lang="en-US" sz="1220" b="1" dirty="0">
                <a:solidFill>
                  <a:srgbClr val="16778A"/>
                </a:solidFill>
                <a:latin typeface="Aptos" pitchFamily="34" charset="0"/>
                <a:ea typeface="Aptos" pitchFamily="34" charset="-122"/>
                <a:cs typeface="Aptos" pitchFamily="34" charset="-120"/>
              </a:rPr>
              <a:t>Average importance (bar plot)</a:t>
            </a:r>
            <a:endParaRPr lang="en-US" sz="1220" dirty="0"/>
          </a:p>
        </p:txBody>
      </p:sp>
      <p:sp>
        <p:nvSpPr>
          <p:cNvPr id="13" name="Text 9"/>
          <p:cNvSpPr/>
          <p:nvPr/>
        </p:nvSpPr>
        <p:spPr>
          <a:xfrm>
            <a:off x="6537960" y="5760720"/>
            <a:ext cx="4864608" cy="228600"/>
          </a:xfrm>
          <a:prstGeom prst="rect">
            <a:avLst/>
          </a:prstGeom>
          <a:noFill/>
          <a:ln/>
        </p:spPr>
        <p:txBody>
          <a:bodyPr wrap="square" lIns="0" tIns="0" rIns="0" bIns="0" rtlCol="0" anchor="ctr">
            <a:normAutofit/>
          </a:bodyPr>
          <a:lstStyle/>
          <a:p>
            <a:pPr indent="0" marL="0">
              <a:buNone/>
            </a:pPr>
            <a:r>
              <a:rPr lang="en-US" sz="1220" b="1" dirty="0">
                <a:solidFill>
                  <a:srgbClr val="16778A"/>
                </a:solidFill>
                <a:latin typeface="Aptos" pitchFamily="34" charset="0"/>
                <a:ea typeface="Aptos" pitchFamily="34" charset="-122"/>
                <a:cs typeface="Aptos" pitchFamily="34" charset="-120"/>
              </a:rPr>
              <a:t>Direction of each feature’s effect (beeswarm)</a:t>
            </a:r>
            <a:endParaRPr lang="en-US" sz="1220" dirty="0"/>
          </a:p>
        </p:txBody>
      </p:sp>
      <p:sp>
        <p:nvSpPr>
          <p:cNvPr id="14" name="Text 10"/>
          <p:cNvSpPr/>
          <p:nvPr/>
        </p:nvSpPr>
        <p:spPr>
          <a:xfrm>
            <a:off x="731520" y="6108192"/>
            <a:ext cx="10863072" cy="411480"/>
          </a:xfrm>
          <a:prstGeom prst="rect">
            <a:avLst/>
          </a:prstGeom>
          <a:noFill/>
          <a:ln/>
        </p:spPr>
        <p:txBody>
          <a:bodyPr wrap="square" lIns="0" tIns="0" rIns="0" bIns="0" rtlCol="0" anchor="ctr">
            <a:normAutofit/>
          </a:bodyPr>
          <a:lstStyle/>
          <a:p>
            <a:r>
              <a:rPr sz="1250"/>
              <a:t>The largest effects came from worst area, worst perimeter and worst concave points. Six of the top 10 important measurements overlapped with Logistic Regression.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10  |  PROBABILITY RELIABILITY</a:t>
            </a:r>
            <a:endParaRPr lang="en-US" sz="1130" dirty="0"/>
          </a:p>
        </p:txBody>
      </p:sp>
      <p:sp>
        <p:nvSpPr>
          <p:cNvPr id="3" name="Text 1"/>
          <p:cNvSpPr/>
          <p:nvPr/>
        </p:nvSpPr>
        <p:spPr>
          <a:xfrm>
            <a:off x="530352" y="630936"/>
            <a:ext cx="11109960" cy="530352"/>
          </a:xfrm>
          <a:prstGeom prst="rect">
            <a:avLst/>
          </a:prstGeom>
          <a:noFill/>
          <a:ln/>
        </p:spPr>
        <p:txBody>
          <a:bodyPr wrap="square" lIns="0" tIns="0" rIns="0" bIns="0" rtlCol="0" anchor="ctr">
            <a:normAutofit/>
          </a:bodyPr>
          <a:lstStyle/>
          <a:p>
            <a:r>
              <a:rPr sz="2900"/>
              <a:t>Calibration: did predicted probabilities match observed outcomes?</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We checked whether predicted probabilities matched actual outcomes. For example, cases assigned about 80% benign probability should be benign about 80% of the time.</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11</a:t>
            </a:r>
            <a:endParaRPr lang="en-US" sz="930" dirty="0"/>
          </a:p>
        </p:txBody>
      </p:sp>
      <p:sp>
        <p:nvSpPr>
          <p:cNvPr id="8" name="Shape 6"/>
          <p:cNvSpPr/>
          <p:nvPr/>
        </p:nvSpPr>
        <p:spPr>
          <a:xfrm>
            <a:off x="539496" y="1746504"/>
            <a:ext cx="5733288" cy="4443984"/>
          </a:xfrm>
          <a:prstGeom prst="roundRect">
            <a:avLst>
              <a:gd name="adj" fmla="val 2469"/>
            </a:avLst>
          </a:prstGeom>
          <a:solidFill>
            <a:srgbClr val="F7FAFA"/>
          </a:solidFill>
          <a:ln w="12700">
            <a:solidFill>
              <a:srgbClr val="F7FAFA">
                <a:alpha val="0"/>
              </a:srgbClr>
            </a:solidFill>
            <a:prstDash val="solid"/>
          </a:ln>
        </p:spPr>
        <p:txBody>
          <a:bodyPr/>
          <a:p/>
        </p:txBody>
      </p:sp>
      <p:pic>
        <p:nvPicPr>
          <p:cNvPr id="9" name="Image 0" descr="/mnt/data/bc_assets/calibration_cropped.png">    </p:cNvPr>
          <p:cNvPicPr>
            <a:picLocks noChangeAspect="1"/>
          </p:cNvPicPr>
          <p:nvPr/>
        </p:nvPicPr>
        <p:blipFill>
          <a:blip r:embed="rId1"/>
          <a:stretch>
            <a:fillRect/>
          </a:stretch>
        </p:blipFill>
        <p:spPr>
          <a:xfrm>
            <a:off x="1174895" y="1847088"/>
            <a:ext cx="4444202" cy="4087368"/>
          </a:xfrm>
          <a:prstGeom prst="rect">
            <a:avLst/>
          </a:prstGeom>
        </p:spPr>
      </p:pic>
      <p:sp>
        <p:nvSpPr>
          <p:cNvPr id="10" name="Text 7"/>
          <p:cNvSpPr/>
          <p:nvPr/>
        </p:nvSpPr>
        <p:spPr>
          <a:xfrm>
            <a:off x="6464808" y="1938528"/>
            <a:ext cx="5056632" cy="292608"/>
          </a:xfrm>
          <a:prstGeom prst="rect">
            <a:avLst/>
          </a:prstGeom>
          <a:noFill/>
          <a:ln/>
        </p:spPr>
        <p:txBody>
          <a:bodyPr wrap="square" lIns="0" tIns="0" rIns="0" bIns="0" rtlCol="0" anchor="ctr">
            <a:normAutofit/>
          </a:bodyPr>
          <a:lstStyle/>
          <a:p>
            <a:pPr indent="0" marL="0">
              <a:buNone/>
            </a:pPr>
            <a:r>
              <a:rPr lang="en-US" sz="1670" b="1" dirty="0">
                <a:solidFill>
                  <a:srgbClr val="16778A"/>
                </a:solidFill>
                <a:latin typeface="Aptos" pitchFamily="34" charset="0"/>
                <a:ea typeface="Aptos" pitchFamily="34" charset="-122"/>
                <a:cs typeface="Aptos" pitchFamily="34" charset="-120"/>
              </a:rPr>
              <a:t>Brier score / log-loss (lower is better)</a:t>
            </a:r>
            <a:endParaRPr lang="en-US" sz="1670" dirty="0"/>
          </a:p>
        </p:txBody>
      </p:sp>
      <p:sp>
        <p:nvSpPr>
          <p:cNvPr id="11" name="Shape 8"/>
          <p:cNvSpPr/>
          <p:nvPr/>
        </p:nvSpPr>
        <p:spPr>
          <a:xfrm>
            <a:off x="6455664" y="2459736"/>
            <a:ext cx="5102352" cy="502920"/>
          </a:xfrm>
          <a:prstGeom prst="roundRect">
            <a:avLst>
              <a:gd name="adj" fmla="val 21818"/>
            </a:avLst>
          </a:prstGeom>
          <a:solidFill>
            <a:srgbClr val="123D4B"/>
          </a:solidFill>
          <a:ln w="12700">
            <a:solidFill>
              <a:srgbClr val="123D4B">
                <a:alpha val="0"/>
              </a:srgbClr>
            </a:solidFill>
            <a:prstDash val="solid"/>
          </a:ln>
        </p:spPr>
        <p:txBody>
          <a:bodyPr/>
          <a:p/>
        </p:txBody>
      </p:sp>
      <p:sp>
        <p:nvSpPr>
          <p:cNvPr id="12" name="Text 9"/>
          <p:cNvSpPr/>
          <p:nvPr/>
        </p:nvSpPr>
        <p:spPr>
          <a:xfrm>
            <a:off x="6638544" y="2578608"/>
            <a:ext cx="2560320" cy="246888"/>
          </a:xfrm>
          <a:prstGeom prst="rect">
            <a:avLst/>
          </a:prstGeom>
          <a:noFill/>
          <a:ln/>
        </p:spPr>
        <p:txBody>
          <a:bodyPr wrap="square" lIns="0" tIns="0" rIns="0" bIns="0" rtlCol="0" anchor="ctr">
            <a:normAutofit/>
          </a:bodyPr>
          <a:lstStyle/>
          <a:p>
            <a:pPr indent="0" marL="0">
              <a:buNone/>
            </a:pPr>
            <a:r>
              <a:rPr lang="en-US" sz="1340" b="1" dirty="0">
                <a:solidFill>
                  <a:srgbClr val="FFFFFF"/>
                </a:solidFill>
                <a:latin typeface="Aptos" pitchFamily="34" charset="0"/>
                <a:ea typeface="Aptos" pitchFamily="34" charset="-122"/>
                <a:cs typeface="Aptos" pitchFamily="34" charset="-120"/>
              </a:rPr>
              <a:t>Model</a:t>
            </a:r>
            <a:endParaRPr lang="en-US" sz="1340" dirty="0"/>
          </a:p>
        </p:txBody>
      </p:sp>
      <p:sp>
        <p:nvSpPr>
          <p:cNvPr id="13" name="Text 10"/>
          <p:cNvSpPr/>
          <p:nvPr/>
        </p:nvSpPr>
        <p:spPr>
          <a:xfrm>
            <a:off x="9253728" y="2578608"/>
            <a:ext cx="960120" cy="246888"/>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ptos" pitchFamily="34" charset="0"/>
                <a:ea typeface="Aptos" pitchFamily="34" charset="-122"/>
                <a:cs typeface="Aptos" pitchFamily="34" charset="-120"/>
              </a:rPr>
              <a:t>Brier</a:t>
            </a:r>
            <a:endParaRPr lang="en-US" sz="1340" dirty="0"/>
          </a:p>
        </p:txBody>
      </p:sp>
      <p:sp>
        <p:nvSpPr>
          <p:cNvPr id="14" name="Text 11"/>
          <p:cNvSpPr/>
          <p:nvPr/>
        </p:nvSpPr>
        <p:spPr>
          <a:xfrm>
            <a:off x="10314432" y="2578608"/>
            <a:ext cx="1088136" cy="246888"/>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Aptos" pitchFamily="34" charset="0"/>
                <a:ea typeface="Aptos" pitchFamily="34" charset="-122"/>
                <a:cs typeface="Aptos" pitchFamily="34" charset="-120"/>
              </a:rPr>
              <a:t>Log-loss</a:t>
            </a:r>
            <a:endParaRPr lang="en-US" sz="1340" dirty="0"/>
          </a:p>
        </p:txBody>
      </p:sp>
      <p:sp>
        <p:nvSpPr>
          <p:cNvPr id="15" name="Shape 12"/>
          <p:cNvSpPr/>
          <p:nvPr/>
        </p:nvSpPr>
        <p:spPr>
          <a:xfrm>
            <a:off x="6455664" y="3026664"/>
            <a:ext cx="5102352" cy="502920"/>
          </a:xfrm>
          <a:prstGeom prst="roundRect">
            <a:avLst>
              <a:gd name="adj" fmla="val 21818"/>
            </a:avLst>
          </a:prstGeom>
          <a:solidFill>
            <a:srgbClr val="E9F4F3"/>
          </a:solidFill>
          <a:ln w="12700">
            <a:solidFill>
              <a:srgbClr val="E9F4F3">
                <a:alpha val="0"/>
              </a:srgbClr>
            </a:solidFill>
            <a:prstDash val="solid"/>
          </a:ln>
        </p:spPr>
        <p:txBody>
          <a:bodyPr/>
          <a:p/>
        </p:txBody>
      </p:sp>
      <p:sp>
        <p:nvSpPr>
          <p:cNvPr id="16" name="Text 13"/>
          <p:cNvSpPr/>
          <p:nvPr/>
        </p:nvSpPr>
        <p:spPr>
          <a:xfrm>
            <a:off x="6638544" y="3145536"/>
            <a:ext cx="2560320" cy="246888"/>
          </a:xfrm>
          <a:prstGeom prst="rect">
            <a:avLst/>
          </a:prstGeom>
          <a:noFill/>
          <a:ln/>
        </p:spPr>
        <p:txBody>
          <a:bodyPr wrap="square" lIns="0" tIns="0" rIns="0" bIns="0" rtlCol="0" anchor="ctr">
            <a:normAutofit/>
          </a:bodyPr>
          <a:lstStyle/>
          <a:p>
            <a:pPr indent="0" marL="0">
              <a:buNone/>
            </a:pPr>
            <a:r>
              <a:rPr lang="en-US" sz="1340" b="1" dirty="0">
                <a:solidFill>
                  <a:srgbClr val="1D3540"/>
                </a:solidFill>
                <a:latin typeface="Aptos" pitchFamily="34" charset="0"/>
                <a:ea typeface="Aptos" pitchFamily="34" charset="-122"/>
                <a:cs typeface="Aptos" pitchFamily="34" charset="-120"/>
              </a:rPr>
              <a:t>Logistic Regression</a:t>
            </a:r>
            <a:endParaRPr lang="en-US" sz="1340" dirty="0"/>
          </a:p>
        </p:txBody>
      </p:sp>
      <p:sp>
        <p:nvSpPr>
          <p:cNvPr id="17" name="Text 14"/>
          <p:cNvSpPr/>
          <p:nvPr/>
        </p:nvSpPr>
        <p:spPr>
          <a:xfrm>
            <a:off x="9253728" y="3145536"/>
            <a:ext cx="960120" cy="246888"/>
          </a:xfrm>
          <a:prstGeom prst="rect">
            <a:avLst/>
          </a:prstGeom>
          <a:noFill/>
          <a:ln/>
        </p:spPr>
        <p:txBody>
          <a:bodyPr wrap="square" lIns="0" tIns="0" rIns="0" bIns="0" rtlCol="0" anchor="ctr">
            <a:normAutofit/>
          </a:bodyPr>
          <a:lstStyle/>
          <a:p>
            <a:pPr algn="ctr" indent="0" marL="0">
              <a:buNone/>
            </a:pPr>
            <a:r>
              <a:rPr lang="en-US" sz="1340" b="1" dirty="0">
                <a:solidFill>
                  <a:srgbClr val="16778A"/>
                </a:solidFill>
                <a:latin typeface="Aptos" pitchFamily="34" charset="0"/>
                <a:ea typeface="Aptos" pitchFamily="34" charset="-122"/>
                <a:cs typeface="Aptos" pitchFamily="34" charset="-120"/>
              </a:rPr>
              <a:t>0.0215</a:t>
            </a:r>
            <a:endParaRPr lang="en-US" sz="1340" dirty="0"/>
          </a:p>
        </p:txBody>
      </p:sp>
      <p:sp>
        <p:nvSpPr>
          <p:cNvPr id="18" name="Text 15"/>
          <p:cNvSpPr/>
          <p:nvPr/>
        </p:nvSpPr>
        <p:spPr>
          <a:xfrm>
            <a:off x="10314432" y="3145536"/>
            <a:ext cx="1088136" cy="246888"/>
          </a:xfrm>
          <a:prstGeom prst="rect">
            <a:avLst/>
          </a:prstGeom>
          <a:noFill/>
          <a:ln/>
        </p:spPr>
        <p:txBody>
          <a:bodyPr wrap="square" lIns="0" tIns="0" rIns="0" bIns="0" rtlCol="0" anchor="ctr">
            <a:normAutofit/>
          </a:bodyPr>
          <a:lstStyle/>
          <a:p>
            <a:pPr algn="ctr" indent="0" marL="0">
              <a:buNone/>
            </a:pPr>
            <a:r>
              <a:rPr lang="en-US" sz="1340" b="1" dirty="0">
                <a:solidFill>
                  <a:srgbClr val="16778A"/>
                </a:solidFill>
                <a:latin typeface="Aptos" pitchFamily="34" charset="0"/>
                <a:ea typeface="Aptos" pitchFamily="34" charset="-122"/>
                <a:cs typeface="Aptos" pitchFamily="34" charset="-120"/>
              </a:rPr>
              <a:t>0.0777</a:t>
            </a:r>
            <a:endParaRPr lang="en-US" sz="1340" dirty="0"/>
          </a:p>
        </p:txBody>
      </p:sp>
      <p:sp>
        <p:nvSpPr>
          <p:cNvPr id="19" name="Shape 16"/>
          <p:cNvSpPr/>
          <p:nvPr/>
        </p:nvSpPr>
        <p:spPr>
          <a:xfrm>
            <a:off x="6455664" y="3593592"/>
            <a:ext cx="5102352" cy="502920"/>
          </a:xfrm>
          <a:prstGeom prst="roundRect">
            <a:avLst>
              <a:gd name="adj" fmla="val 21818"/>
            </a:avLst>
          </a:prstGeom>
          <a:solidFill>
            <a:srgbClr val="F7F9F9"/>
          </a:solidFill>
          <a:ln w="12700">
            <a:solidFill>
              <a:srgbClr val="F7F9F9">
                <a:alpha val="0"/>
              </a:srgbClr>
            </a:solidFill>
            <a:prstDash val="solid"/>
          </a:ln>
        </p:spPr>
        <p:txBody>
          <a:bodyPr/>
          <a:p/>
        </p:txBody>
      </p:sp>
      <p:sp>
        <p:nvSpPr>
          <p:cNvPr id="20" name="Text 17"/>
          <p:cNvSpPr/>
          <p:nvPr/>
        </p:nvSpPr>
        <p:spPr>
          <a:xfrm>
            <a:off x="6638544" y="3712464"/>
            <a:ext cx="2560320" cy="246888"/>
          </a:xfrm>
          <a:prstGeom prst="rect">
            <a:avLst/>
          </a:prstGeom>
          <a:noFill/>
          <a:ln/>
        </p:spPr>
        <p:txBody>
          <a:bodyPr wrap="square" lIns="0" tIns="0" rIns="0" bIns="0" rtlCol="0" anchor="ctr">
            <a:normAutofit/>
          </a:bodyPr>
          <a:lstStyle/>
          <a:p>
            <a:pPr indent="0" marL="0">
              <a:buNone/>
            </a:pPr>
            <a:r>
              <a:rPr lang="en-US" sz="1340" dirty="0">
                <a:solidFill>
                  <a:srgbClr val="1D3540"/>
                </a:solidFill>
                <a:latin typeface="Aptos" pitchFamily="34" charset="0"/>
                <a:ea typeface="Aptos" pitchFamily="34" charset="-122"/>
                <a:cs typeface="Aptos" pitchFamily="34" charset="-120"/>
              </a:rPr>
              <a:t>Random Forest</a:t>
            </a:r>
            <a:endParaRPr lang="en-US" sz="1340" dirty="0"/>
          </a:p>
        </p:txBody>
      </p:sp>
      <p:sp>
        <p:nvSpPr>
          <p:cNvPr id="21" name="Text 18"/>
          <p:cNvSpPr/>
          <p:nvPr/>
        </p:nvSpPr>
        <p:spPr>
          <a:xfrm>
            <a:off x="9253728" y="3712464"/>
            <a:ext cx="960120" cy="246888"/>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0.0319</a:t>
            </a:r>
            <a:endParaRPr lang="en-US" sz="1340" dirty="0"/>
          </a:p>
        </p:txBody>
      </p:sp>
      <p:sp>
        <p:nvSpPr>
          <p:cNvPr id="22" name="Text 19"/>
          <p:cNvSpPr/>
          <p:nvPr/>
        </p:nvSpPr>
        <p:spPr>
          <a:xfrm>
            <a:off x="10314432" y="3712464"/>
            <a:ext cx="1088136" cy="246888"/>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0.1089</a:t>
            </a:r>
            <a:endParaRPr lang="en-US" sz="1340" dirty="0"/>
          </a:p>
        </p:txBody>
      </p:sp>
      <p:sp>
        <p:nvSpPr>
          <p:cNvPr id="23" name="Shape 20"/>
          <p:cNvSpPr/>
          <p:nvPr/>
        </p:nvSpPr>
        <p:spPr>
          <a:xfrm>
            <a:off x="6455664" y="4160520"/>
            <a:ext cx="5102352" cy="502920"/>
          </a:xfrm>
          <a:prstGeom prst="roundRect">
            <a:avLst>
              <a:gd name="adj" fmla="val 21818"/>
            </a:avLst>
          </a:prstGeom>
          <a:solidFill>
            <a:srgbClr val="E9F4F3"/>
          </a:solidFill>
          <a:ln w="12700">
            <a:solidFill>
              <a:srgbClr val="E9F4F3">
                <a:alpha val="0"/>
              </a:srgbClr>
            </a:solidFill>
            <a:prstDash val="solid"/>
          </a:ln>
        </p:spPr>
        <p:txBody>
          <a:bodyPr/>
          <a:p/>
        </p:txBody>
      </p:sp>
      <p:sp>
        <p:nvSpPr>
          <p:cNvPr id="24" name="Text 21"/>
          <p:cNvSpPr/>
          <p:nvPr/>
        </p:nvSpPr>
        <p:spPr>
          <a:xfrm>
            <a:off x="6638544" y="4279392"/>
            <a:ext cx="2560320" cy="246888"/>
          </a:xfrm>
          <a:prstGeom prst="rect">
            <a:avLst/>
          </a:prstGeom>
          <a:noFill/>
          <a:ln/>
        </p:spPr>
        <p:txBody>
          <a:bodyPr wrap="square" lIns="0" tIns="0" rIns="0" bIns="0" rtlCol="0" anchor="ctr">
            <a:normAutofit/>
          </a:bodyPr>
          <a:lstStyle/>
          <a:p>
            <a:pPr indent="0" marL="0">
              <a:buNone/>
            </a:pPr>
            <a:r>
              <a:rPr lang="en-US" sz="1340" dirty="0">
                <a:solidFill>
                  <a:srgbClr val="1D3540"/>
                </a:solidFill>
                <a:latin typeface="Aptos" pitchFamily="34" charset="0"/>
                <a:ea typeface="Aptos" pitchFamily="34" charset="-122"/>
                <a:cs typeface="Aptos" pitchFamily="34" charset="-120"/>
              </a:rPr>
              <a:t>Gaussian NB</a:t>
            </a:r>
            <a:endParaRPr lang="en-US" sz="1340" dirty="0"/>
          </a:p>
        </p:txBody>
      </p:sp>
      <p:sp>
        <p:nvSpPr>
          <p:cNvPr id="25" name="Text 22"/>
          <p:cNvSpPr/>
          <p:nvPr/>
        </p:nvSpPr>
        <p:spPr>
          <a:xfrm>
            <a:off x="9253728" y="4279392"/>
            <a:ext cx="960120" cy="246888"/>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0.0602</a:t>
            </a:r>
            <a:endParaRPr lang="en-US" sz="1340" dirty="0"/>
          </a:p>
        </p:txBody>
      </p:sp>
      <p:sp>
        <p:nvSpPr>
          <p:cNvPr id="26" name="Text 23"/>
          <p:cNvSpPr/>
          <p:nvPr/>
        </p:nvSpPr>
        <p:spPr>
          <a:xfrm>
            <a:off x="10314432" y="4279392"/>
            <a:ext cx="1088136" cy="246888"/>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0.4370</a:t>
            </a:r>
            <a:endParaRPr lang="en-US" sz="1340" dirty="0"/>
          </a:p>
        </p:txBody>
      </p:sp>
      <p:sp>
        <p:nvSpPr>
          <p:cNvPr id="27" name="Shape 24"/>
          <p:cNvSpPr/>
          <p:nvPr/>
        </p:nvSpPr>
        <p:spPr>
          <a:xfrm>
            <a:off x="6464808" y="4937760"/>
            <a:ext cx="5093208" cy="1152144"/>
          </a:xfrm>
          <a:prstGeom prst="roundRect">
            <a:avLst>
              <a:gd name="adj" fmla="val 9524"/>
            </a:avLst>
          </a:prstGeom>
          <a:solidFill>
            <a:srgbClr val="E9F4F3"/>
          </a:solidFill>
          <a:ln w="12700">
            <a:solidFill>
              <a:srgbClr val="E9F4F3">
                <a:alpha val="0"/>
              </a:srgbClr>
            </a:solidFill>
            <a:prstDash val="solid"/>
          </a:ln>
        </p:spPr>
        <p:txBody>
          <a:bodyPr/>
          <a:p/>
        </p:txBody>
      </p:sp>
      <p:sp>
        <p:nvSpPr>
          <p:cNvPr id="28" name="Text 25"/>
          <p:cNvSpPr/>
          <p:nvPr/>
        </p:nvSpPr>
        <p:spPr>
          <a:xfrm>
            <a:off x="6647688" y="5065776"/>
            <a:ext cx="4617720" cy="237744"/>
          </a:xfrm>
          <a:prstGeom prst="rect">
            <a:avLst/>
          </a:prstGeom>
          <a:noFill/>
          <a:ln/>
        </p:spPr>
        <p:txBody>
          <a:bodyPr wrap="square" lIns="0" tIns="0" rIns="0" bIns="0" rtlCol="0" anchor="ctr">
            <a:normAutofit/>
          </a:bodyPr>
          <a:lstStyle/>
          <a:p>
            <a:pPr indent="0" marL="0">
              <a:buNone/>
            </a:pPr>
            <a:r>
              <a:rPr lang="en-US" sz="1370" b="1" dirty="0">
                <a:solidFill>
                  <a:srgbClr val="16778A"/>
                </a:solidFill>
                <a:latin typeface="Aptos" pitchFamily="34" charset="0"/>
                <a:ea typeface="Aptos" pitchFamily="34" charset="-122"/>
                <a:cs typeface="Aptos" pitchFamily="34" charset="-120"/>
              </a:rPr>
              <a:t>What this tells us</a:t>
            </a:r>
            <a:endParaRPr lang="en-US" sz="1370" dirty="0"/>
          </a:p>
        </p:txBody>
      </p:sp>
      <p:sp>
        <p:nvSpPr>
          <p:cNvPr id="29" name="Text 26"/>
          <p:cNvSpPr/>
          <p:nvPr/>
        </p:nvSpPr>
        <p:spPr>
          <a:xfrm>
            <a:off x="6647688" y="5367528"/>
            <a:ext cx="4572000" cy="640080"/>
          </a:xfrm>
          <a:prstGeom prst="rect">
            <a:avLst/>
          </a:prstGeom>
          <a:noFill/>
          <a:ln/>
        </p:spPr>
        <p:txBody>
          <a:bodyPr wrap="square" lIns="0" tIns="0" rIns="0" bIns="0" rtlCol="0" anchor="t">
            <a:normAutofit/>
          </a:bodyPr>
          <a:lstStyle/>
          <a:p>
            <a:r>
              <a:rPr sz="1220"/>
              <a:t>Logistic Regression had the lowest Brier score (0.0215) and log-loss (0.0777), indicating the best probability estimates in this test. The small sample makes calibration curves approximate.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10881360" cy="237744"/>
          </a:xfrm>
          <a:prstGeom prst="rect">
            <a:avLst/>
          </a:prstGeom>
          <a:noFill/>
          <a:ln/>
        </p:spPr>
        <p:txBody>
          <a:bodyPr wrap="square" lIns="0" tIns="0" rIns="0" bIns="0" rtlCol="0" anchor="ctr">
            <a:normAutofit/>
          </a:bodyPr>
          <a:lstStyle/>
          <a:p>
            <a:pPr indent="0" marL="0">
              <a:buNone/>
            </a:pPr>
            <a:r>
              <a:rPr lang="en-US" sz="1130" b="1" spc="260" kern="0" dirty="0">
                <a:solidFill>
                  <a:srgbClr val="C75D75"/>
                </a:solidFill>
                <a:latin typeface="Aptos" pitchFamily="34" charset="0"/>
                <a:ea typeface="Aptos" pitchFamily="34" charset="-122"/>
                <a:cs typeface="Aptos" pitchFamily="34" charset="-120"/>
              </a:rPr>
              <a:t>11  |  COMBINED RESULTS</a:t>
            </a:r>
            <a:endParaRPr lang="en-US" sz="1130" dirty="0"/>
          </a:p>
        </p:txBody>
      </p:sp>
      <p:sp>
        <p:nvSpPr>
          <p:cNvPr id="3" name="Text 1"/>
          <p:cNvSpPr/>
          <p:nvPr/>
        </p:nvSpPr>
        <p:spPr>
          <a:xfrm>
            <a:off x="530352" y="630936"/>
            <a:ext cx="11109960" cy="640080"/>
          </a:xfrm>
          <a:prstGeom prst="rect">
            <a:avLst/>
          </a:prstGeom>
          <a:noFill/>
          <a:ln/>
        </p:spPr>
        <p:txBody>
          <a:bodyPr wrap="square" lIns="0" tIns="0" rIns="0" bIns="0" rtlCol="0" anchor="ctr">
            <a:normAutofit/>
          </a:bodyPr>
          <a:lstStyle/>
          <a:p>
            <a:r>
              <a:rPr sz="2900"/>
              <a:t>Final comparison of all tested approaches</a:t>
            </a:r>
          </a:p>
        </p:txBody>
      </p:sp>
      <p:sp>
        <p:nvSpPr>
          <p:cNvPr id="4" name="Text 2"/>
          <p:cNvSpPr/>
          <p:nvPr/>
        </p:nvSpPr>
        <p:spPr>
          <a:xfrm>
            <a:off x="539496" y="1271016"/>
            <a:ext cx="11064240" cy="484632"/>
          </a:xfrm>
          <a:prstGeom prst="rect">
            <a:avLst/>
          </a:prstGeom>
          <a:noFill/>
          <a:ln/>
        </p:spPr>
        <p:txBody>
          <a:bodyPr wrap="square" lIns="0" tIns="0" rIns="0" bIns="0" rtlCol="0" anchor="ctr">
            <a:normAutofit/>
          </a:bodyPr>
          <a:lstStyle/>
          <a:p>
            <a:r>
              <a:rPr sz="1350"/>
              <a:t>All four rows use the same 114-patient test set. Accuracy counts correct labels; ROC-AUC measures how well probabilities rank cases; Brier measures probability error (lower is better).</a:t>
            </a:r>
          </a:p>
        </p:txBody>
      </p:sp>
      <p:sp>
        <p:nvSpPr>
          <p:cNvPr id="5" name="Shape 3"/>
          <p:cNvSpPr/>
          <p:nvPr/>
        </p:nvSpPr>
        <p:spPr>
          <a:xfrm>
            <a:off x="530352" y="6446520"/>
            <a:ext cx="11128248" cy="0"/>
          </a:xfrm>
          <a:prstGeom prst="line">
            <a:avLst/>
          </a:prstGeom>
          <a:noFill/>
          <a:ln w="10160">
            <a:solidFill>
              <a:srgbClr val="DAE6E7"/>
            </a:solidFill>
            <a:prstDash val="solid"/>
          </a:ln>
        </p:spPr>
        <p:txBody>
          <a:bodyPr/>
          <a:p/>
        </p:txBody>
      </p:sp>
      <p:sp>
        <p:nvSpPr>
          <p:cNvPr id="6" name="Text 4"/>
          <p:cNvSpPr/>
          <p:nvPr/>
        </p:nvSpPr>
        <p:spPr>
          <a:xfrm>
            <a:off x="539496" y="6496812"/>
            <a:ext cx="8869680" cy="146304"/>
          </a:xfrm>
          <a:prstGeom prst="rect">
            <a:avLst/>
          </a:prstGeom>
          <a:noFill/>
          <a:ln/>
        </p:spPr>
        <p:txBody>
          <a:bodyPr wrap="square" lIns="0" tIns="0" rIns="0" bIns="0" rtlCol="0" anchor="ctr">
            <a:normAutofit/>
          </a:bodyPr>
          <a:lstStyle/>
          <a:p>
            <a:pPr indent="0" marL="0">
              <a:buNone/>
            </a:pPr>
            <a:r>
              <a:rPr lang="en-US" sz="820" dirty="0">
                <a:solidFill>
                  <a:srgbClr val="788B90"/>
                </a:solidFill>
                <a:latin typeface="Aptos" pitchFamily="34" charset="0"/>
                <a:ea typeface="Aptos" pitchFamily="34" charset="-122"/>
                <a:cs typeface="Aptos" pitchFamily="34" charset="-120"/>
              </a:rPr>
              <a:t>Breast Cancer Classification   |   BAMAT207 Final Review</a:t>
            </a:r>
            <a:endParaRPr lang="en-US" sz="820" dirty="0"/>
          </a:p>
        </p:txBody>
      </p:sp>
      <p:sp>
        <p:nvSpPr>
          <p:cNvPr id="7" name="Text 5"/>
          <p:cNvSpPr/>
          <p:nvPr/>
        </p:nvSpPr>
        <p:spPr>
          <a:xfrm>
            <a:off x="11283696" y="6487668"/>
            <a:ext cx="338328" cy="164592"/>
          </a:xfrm>
          <a:prstGeom prst="rect">
            <a:avLst/>
          </a:prstGeom>
          <a:noFill/>
          <a:ln/>
        </p:spPr>
        <p:txBody>
          <a:bodyPr wrap="square" lIns="0" tIns="0" rIns="0" bIns="0" rtlCol="0" anchor="ctr">
            <a:normAutofit/>
          </a:bodyPr>
          <a:lstStyle/>
          <a:p>
            <a:pPr algn="r" indent="0" marL="0">
              <a:buNone/>
            </a:pPr>
            <a:r>
              <a:rPr lang="en-US" sz="930" dirty="0">
                <a:solidFill>
                  <a:srgbClr val="788B90"/>
                </a:solidFill>
                <a:latin typeface="Aptos" pitchFamily="34" charset="0"/>
                <a:ea typeface="Aptos" pitchFamily="34" charset="-122"/>
                <a:cs typeface="Aptos" pitchFamily="34" charset="-120"/>
              </a:rPr>
              <a:t>12</a:t>
            </a:r>
            <a:endParaRPr lang="en-US" sz="930" dirty="0"/>
          </a:p>
        </p:txBody>
      </p:sp>
      <p:sp>
        <p:nvSpPr>
          <p:cNvPr id="8" name="Shape 6"/>
          <p:cNvSpPr/>
          <p:nvPr/>
        </p:nvSpPr>
        <p:spPr>
          <a:xfrm>
            <a:off x="521208" y="1773936"/>
            <a:ext cx="7863840" cy="502920"/>
          </a:xfrm>
          <a:prstGeom prst="roundRect">
            <a:avLst>
              <a:gd name="adj" fmla="val 21818"/>
            </a:avLst>
          </a:prstGeom>
          <a:solidFill>
            <a:srgbClr val="103B49"/>
          </a:solidFill>
          <a:ln w="12700">
            <a:solidFill>
              <a:srgbClr val="103B49">
                <a:alpha val="0"/>
              </a:srgbClr>
            </a:solidFill>
            <a:prstDash val="solid"/>
          </a:ln>
        </p:spPr>
        <p:txBody>
          <a:bodyPr/>
          <a:p/>
        </p:txBody>
      </p:sp>
      <p:sp>
        <p:nvSpPr>
          <p:cNvPr id="9" name="Text 7"/>
          <p:cNvSpPr/>
          <p:nvPr/>
        </p:nvSpPr>
        <p:spPr>
          <a:xfrm>
            <a:off x="585216" y="1920240"/>
            <a:ext cx="279806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Model</a:t>
            </a:r>
            <a:endParaRPr lang="en-US" sz="1250" dirty="0"/>
          </a:p>
        </p:txBody>
      </p:sp>
      <p:sp>
        <p:nvSpPr>
          <p:cNvPr id="10" name="Text 8"/>
          <p:cNvSpPr/>
          <p:nvPr/>
        </p:nvSpPr>
        <p:spPr>
          <a:xfrm>
            <a:off x="3429000" y="1920240"/>
            <a:ext cx="128016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Accuracy</a:t>
            </a:r>
            <a:endParaRPr lang="en-US" sz="1250" dirty="0"/>
          </a:p>
        </p:txBody>
      </p:sp>
      <p:sp>
        <p:nvSpPr>
          <p:cNvPr id="11" name="Text 9"/>
          <p:cNvSpPr/>
          <p:nvPr/>
        </p:nvSpPr>
        <p:spPr>
          <a:xfrm>
            <a:off x="4773168" y="1920240"/>
            <a:ext cx="128016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ROC-AUC</a:t>
            </a:r>
            <a:endParaRPr lang="en-US" sz="1250" dirty="0"/>
          </a:p>
        </p:txBody>
      </p:sp>
      <p:sp>
        <p:nvSpPr>
          <p:cNvPr id="12" name="Text 10"/>
          <p:cNvSpPr/>
          <p:nvPr/>
        </p:nvSpPr>
        <p:spPr>
          <a:xfrm>
            <a:off x="6117336" y="1920240"/>
            <a:ext cx="1179576"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Aptos" pitchFamily="34" charset="0"/>
                <a:ea typeface="Aptos" pitchFamily="34" charset="-122"/>
                <a:cs typeface="Aptos" pitchFamily="34" charset="-120"/>
              </a:rPr>
              <a:t>Malig. missed</a:t>
            </a:r>
            <a:endParaRPr lang="en-US" sz="1080" dirty="0"/>
          </a:p>
        </p:txBody>
      </p:sp>
      <p:sp>
        <p:nvSpPr>
          <p:cNvPr id="13" name="Text 11"/>
          <p:cNvSpPr/>
          <p:nvPr/>
        </p:nvSpPr>
        <p:spPr>
          <a:xfrm>
            <a:off x="7360920" y="1920240"/>
            <a:ext cx="96012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Brier</a:t>
            </a:r>
            <a:endParaRPr lang="en-US" sz="1250" dirty="0"/>
          </a:p>
        </p:txBody>
      </p:sp>
      <p:sp>
        <p:nvSpPr>
          <p:cNvPr id="14" name="Shape 12"/>
          <p:cNvSpPr/>
          <p:nvPr/>
        </p:nvSpPr>
        <p:spPr>
          <a:xfrm>
            <a:off x="530352" y="2386584"/>
            <a:ext cx="7863840" cy="685800"/>
          </a:xfrm>
          <a:prstGeom prst="roundRect">
            <a:avLst>
              <a:gd name="adj" fmla="val 16000"/>
            </a:avLst>
          </a:prstGeom>
          <a:solidFill>
            <a:srgbClr val="DDF0ED"/>
          </a:solidFill>
          <a:ln w="12700">
            <a:solidFill>
              <a:srgbClr val="DDF0ED">
                <a:alpha val="0"/>
              </a:srgbClr>
            </a:solidFill>
            <a:prstDash val="solid"/>
          </a:ln>
        </p:spPr>
        <p:txBody>
          <a:bodyPr/>
          <a:p/>
        </p:txBody>
      </p:sp>
      <p:sp>
        <p:nvSpPr>
          <p:cNvPr id="15" name="Text 13"/>
          <p:cNvSpPr/>
          <p:nvPr/>
        </p:nvSpPr>
        <p:spPr>
          <a:xfrm>
            <a:off x="585216" y="2578608"/>
            <a:ext cx="2798064" cy="283464"/>
          </a:xfrm>
          <a:prstGeom prst="rect">
            <a:avLst/>
          </a:prstGeom>
          <a:noFill/>
          <a:ln/>
        </p:spPr>
        <p:txBody>
          <a:bodyPr wrap="square" lIns="0" tIns="0" rIns="0" bIns="0" rtlCol="0" anchor="ctr">
            <a:normAutofit/>
          </a:bodyPr>
          <a:lstStyle/>
          <a:p>
            <a:pPr algn="l" indent="0" marL="0">
              <a:buNone/>
            </a:pPr>
            <a:r>
              <a:rPr lang="en-US" sz="1300" b="1" dirty="0">
                <a:solidFill>
                  <a:srgbClr val="16778A"/>
                </a:solidFill>
                <a:latin typeface="Aptos" pitchFamily="34" charset="0"/>
                <a:ea typeface="Aptos" pitchFamily="34" charset="-122"/>
                <a:cs typeface="Aptos" pitchFamily="34" charset="-120"/>
              </a:rPr>
              <a:t>Logistic Regression</a:t>
            </a:r>
            <a:endParaRPr lang="en-US" sz="1300" dirty="0"/>
          </a:p>
        </p:txBody>
      </p:sp>
      <p:sp>
        <p:nvSpPr>
          <p:cNvPr id="16" name="Text 14"/>
          <p:cNvSpPr/>
          <p:nvPr/>
        </p:nvSpPr>
        <p:spPr>
          <a:xfrm>
            <a:off x="3429000" y="2578608"/>
            <a:ext cx="1280160" cy="283464"/>
          </a:xfrm>
          <a:prstGeom prst="rect">
            <a:avLst/>
          </a:prstGeom>
          <a:noFill/>
          <a:ln/>
        </p:spPr>
        <p:txBody>
          <a:bodyPr wrap="square" lIns="0" tIns="0" rIns="0" bIns="0" rtlCol="0" anchor="ctr">
            <a:normAutofit/>
          </a:bodyPr>
          <a:lstStyle/>
          <a:p>
            <a:pPr algn="ctr" indent="0" marL="0">
              <a:buNone/>
            </a:pPr>
            <a:r>
              <a:rPr lang="en-US" sz="1340" b="1" dirty="0">
                <a:solidFill>
                  <a:srgbClr val="16778A"/>
                </a:solidFill>
                <a:latin typeface="Aptos" pitchFamily="34" charset="0"/>
                <a:ea typeface="Aptos" pitchFamily="34" charset="-122"/>
                <a:cs typeface="Aptos" pitchFamily="34" charset="-120"/>
              </a:rPr>
              <a:t>98.25%</a:t>
            </a:r>
            <a:endParaRPr lang="en-US" sz="1340" dirty="0"/>
          </a:p>
        </p:txBody>
      </p:sp>
      <p:sp>
        <p:nvSpPr>
          <p:cNvPr id="17" name="Text 15"/>
          <p:cNvSpPr/>
          <p:nvPr/>
        </p:nvSpPr>
        <p:spPr>
          <a:xfrm>
            <a:off x="4773168" y="2578608"/>
            <a:ext cx="1280160" cy="283464"/>
          </a:xfrm>
          <a:prstGeom prst="rect">
            <a:avLst/>
          </a:prstGeom>
          <a:noFill/>
          <a:ln/>
        </p:spPr>
        <p:txBody>
          <a:bodyPr wrap="square" lIns="0" tIns="0" rIns="0" bIns="0" rtlCol="0" anchor="ctr">
            <a:normAutofit/>
          </a:bodyPr>
          <a:lstStyle/>
          <a:p>
            <a:pPr algn="ctr" indent="0" marL="0">
              <a:buNone/>
            </a:pPr>
            <a:r>
              <a:rPr lang="en-US" sz="1340" b="1" dirty="0">
                <a:solidFill>
                  <a:srgbClr val="16778A"/>
                </a:solidFill>
                <a:latin typeface="Aptos" pitchFamily="34" charset="0"/>
                <a:ea typeface="Aptos" pitchFamily="34" charset="-122"/>
                <a:cs typeface="Aptos" pitchFamily="34" charset="-120"/>
              </a:rPr>
              <a:t>0.9954</a:t>
            </a:r>
            <a:endParaRPr lang="en-US" sz="1340" dirty="0"/>
          </a:p>
        </p:txBody>
      </p:sp>
      <p:sp>
        <p:nvSpPr>
          <p:cNvPr id="18" name="Text 16"/>
          <p:cNvSpPr/>
          <p:nvPr/>
        </p:nvSpPr>
        <p:spPr>
          <a:xfrm>
            <a:off x="6117336" y="2578608"/>
            <a:ext cx="1179576" cy="283464"/>
          </a:xfrm>
          <a:prstGeom prst="rect">
            <a:avLst/>
          </a:prstGeom>
          <a:noFill/>
          <a:ln/>
        </p:spPr>
        <p:txBody>
          <a:bodyPr wrap="square" lIns="0" tIns="0" rIns="0" bIns="0" rtlCol="0" anchor="ctr">
            <a:normAutofit/>
          </a:bodyPr>
          <a:lstStyle/>
          <a:p>
            <a:pPr algn="ctr" indent="0" marL="0">
              <a:buNone/>
            </a:pPr>
            <a:r>
              <a:rPr lang="en-US" sz="1340" b="1" dirty="0">
                <a:solidFill>
                  <a:srgbClr val="16778A"/>
                </a:solidFill>
                <a:latin typeface="Aptos" pitchFamily="34" charset="0"/>
                <a:ea typeface="Aptos" pitchFamily="34" charset="-122"/>
                <a:cs typeface="Aptos" pitchFamily="34" charset="-120"/>
              </a:rPr>
              <a:t>1</a:t>
            </a:r>
            <a:endParaRPr lang="en-US" sz="1340" dirty="0"/>
          </a:p>
        </p:txBody>
      </p:sp>
      <p:sp>
        <p:nvSpPr>
          <p:cNvPr id="19" name="Text 17"/>
          <p:cNvSpPr/>
          <p:nvPr/>
        </p:nvSpPr>
        <p:spPr>
          <a:xfrm>
            <a:off x="7360920" y="2578608"/>
            <a:ext cx="960120" cy="283464"/>
          </a:xfrm>
          <a:prstGeom prst="rect">
            <a:avLst/>
          </a:prstGeom>
          <a:noFill/>
          <a:ln/>
        </p:spPr>
        <p:txBody>
          <a:bodyPr wrap="square" lIns="0" tIns="0" rIns="0" bIns="0" rtlCol="0" anchor="ctr">
            <a:normAutofit/>
          </a:bodyPr>
          <a:lstStyle/>
          <a:p>
            <a:pPr algn="ctr" indent="0" marL="0">
              <a:buNone/>
            </a:pPr>
            <a:r>
              <a:rPr lang="en-US" sz="1340" b="1" dirty="0">
                <a:solidFill>
                  <a:srgbClr val="16778A"/>
                </a:solidFill>
                <a:latin typeface="Aptos" pitchFamily="34" charset="0"/>
                <a:ea typeface="Aptos" pitchFamily="34" charset="-122"/>
                <a:cs typeface="Aptos" pitchFamily="34" charset="-120"/>
              </a:rPr>
              <a:t>0.0215</a:t>
            </a:r>
            <a:endParaRPr lang="en-US" sz="1340" dirty="0"/>
          </a:p>
        </p:txBody>
      </p:sp>
      <p:sp>
        <p:nvSpPr>
          <p:cNvPr id="20" name="Shape 18"/>
          <p:cNvSpPr/>
          <p:nvPr/>
        </p:nvSpPr>
        <p:spPr>
          <a:xfrm>
            <a:off x="530352" y="3154680"/>
            <a:ext cx="7863840" cy="685800"/>
          </a:xfrm>
          <a:prstGeom prst="roundRect">
            <a:avLst>
              <a:gd name="adj" fmla="val 16000"/>
            </a:avLst>
          </a:prstGeom>
          <a:solidFill>
            <a:srgbClr val="F3F7F7"/>
          </a:solidFill>
          <a:ln w="12700">
            <a:solidFill>
              <a:srgbClr val="F3F7F7">
                <a:alpha val="0"/>
              </a:srgbClr>
            </a:solidFill>
            <a:prstDash val="solid"/>
          </a:ln>
        </p:spPr>
        <p:txBody>
          <a:bodyPr/>
          <a:p/>
        </p:txBody>
      </p:sp>
      <p:sp>
        <p:nvSpPr>
          <p:cNvPr id="21" name="Text 19"/>
          <p:cNvSpPr/>
          <p:nvPr/>
        </p:nvSpPr>
        <p:spPr>
          <a:xfrm>
            <a:off x="585216" y="3346704"/>
            <a:ext cx="2798064" cy="283464"/>
          </a:xfrm>
          <a:prstGeom prst="rect">
            <a:avLst/>
          </a:prstGeom>
          <a:noFill/>
          <a:ln/>
        </p:spPr>
        <p:txBody>
          <a:bodyPr wrap="square" lIns="0" tIns="0" rIns="0" bIns="0" rtlCol="0" anchor="ctr">
            <a:normAutofit/>
          </a:bodyPr>
          <a:lstStyle/>
          <a:p>
            <a:pPr algn="l" indent="0" marL="0">
              <a:buNone/>
            </a:pPr>
            <a:r>
              <a:rPr lang="en-US" sz="1300" dirty="0">
                <a:solidFill>
                  <a:srgbClr val="1D3540"/>
                </a:solidFill>
                <a:latin typeface="Aptos" pitchFamily="34" charset="0"/>
                <a:ea typeface="Aptos" pitchFamily="34" charset="-122"/>
                <a:cs typeface="Aptos" pitchFamily="34" charset="-120"/>
              </a:rPr>
              <a:t>Random Forest</a:t>
            </a:r>
            <a:endParaRPr lang="en-US" sz="1300" dirty="0"/>
          </a:p>
        </p:txBody>
      </p:sp>
      <p:sp>
        <p:nvSpPr>
          <p:cNvPr id="22" name="Text 20"/>
          <p:cNvSpPr/>
          <p:nvPr/>
        </p:nvSpPr>
        <p:spPr>
          <a:xfrm>
            <a:off x="3429000" y="3346704"/>
            <a:ext cx="128016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95.61%</a:t>
            </a:r>
            <a:endParaRPr lang="en-US" sz="1340" dirty="0"/>
          </a:p>
        </p:txBody>
      </p:sp>
      <p:sp>
        <p:nvSpPr>
          <p:cNvPr id="23" name="Text 21"/>
          <p:cNvSpPr/>
          <p:nvPr/>
        </p:nvSpPr>
        <p:spPr>
          <a:xfrm>
            <a:off x="4773168" y="3346704"/>
            <a:ext cx="128016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0.9931</a:t>
            </a:r>
            <a:endParaRPr lang="en-US" sz="1340" dirty="0"/>
          </a:p>
        </p:txBody>
      </p:sp>
      <p:sp>
        <p:nvSpPr>
          <p:cNvPr id="24" name="Text 22"/>
          <p:cNvSpPr/>
          <p:nvPr/>
        </p:nvSpPr>
        <p:spPr>
          <a:xfrm>
            <a:off x="6117336" y="3346704"/>
            <a:ext cx="1179576"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3</a:t>
            </a:r>
            <a:endParaRPr lang="en-US" sz="1340" dirty="0"/>
          </a:p>
        </p:txBody>
      </p:sp>
      <p:sp>
        <p:nvSpPr>
          <p:cNvPr id="25" name="Text 23"/>
          <p:cNvSpPr/>
          <p:nvPr/>
        </p:nvSpPr>
        <p:spPr>
          <a:xfrm>
            <a:off x="7360920" y="3346704"/>
            <a:ext cx="96012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0.0319</a:t>
            </a:r>
            <a:endParaRPr lang="en-US" sz="1340" dirty="0"/>
          </a:p>
        </p:txBody>
      </p:sp>
      <p:sp>
        <p:nvSpPr>
          <p:cNvPr id="26" name="Shape 24"/>
          <p:cNvSpPr/>
          <p:nvPr/>
        </p:nvSpPr>
        <p:spPr>
          <a:xfrm>
            <a:off x="530352" y="3922776"/>
            <a:ext cx="7863840" cy="685800"/>
          </a:xfrm>
          <a:prstGeom prst="roundRect">
            <a:avLst>
              <a:gd name="adj" fmla="val 16000"/>
            </a:avLst>
          </a:prstGeom>
          <a:solidFill>
            <a:srgbClr val="F3F7F7"/>
          </a:solidFill>
          <a:ln w="12700">
            <a:solidFill>
              <a:srgbClr val="F3F7F7">
                <a:alpha val="0"/>
              </a:srgbClr>
            </a:solidFill>
            <a:prstDash val="solid"/>
          </a:ln>
        </p:spPr>
        <p:txBody>
          <a:bodyPr/>
          <a:p/>
        </p:txBody>
      </p:sp>
      <p:sp>
        <p:nvSpPr>
          <p:cNvPr id="27" name="Text 25"/>
          <p:cNvSpPr/>
          <p:nvPr/>
        </p:nvSpPr>
        <p:spPr>
          <a:xfrm>
            <a:off x="585216" y="4114800"/>
            <a:ext cx="2798064" cy="283464"/>
          </a:xfrm>
          <a:prstGeom prst="rect">
            <a:avLst/>
          </a:prstGeom>
          <a:noFill/>
          <a:ln/>
        </p:spPr>
        <p:txBody>
          <a:bodyPr wrap="square" lIns="0" tIns="0" rIns="0" bIns="0" rtlCol="0" anchor="ctr">
            <a:normAutofit/>
          </a:bodyPr>
          <a:lstStyle/>
          <a:p>
            <a:pPr algn="l" indent="0" marL="0">
              <a:buNone/>
            </a:pPr>
            <a:r>
              <a:rPr lang="en-US" sz="1300" dirty="0">
                <a:solidFill>
                  <a:srgbClr val="1D3540"/>
                </a:solidFill>
                <a:latin typeface="Aptos" pitchFamily="34" charset="0"/>
                <a:ea typeface="Aptos" pitchFamily="34" charset="-122"/>
                <a:cs typeface="Aptos" pitchFamily="34" charset="-120"/>
              </a:rPr>
              <a:t>Gaussian Naive Bayes</a:t>
            </a:r>
            <a:endParaRPr lang="en-US" sz="1300" dirty="0"/>
          </a:p>
        </p:txBody>
      </p:sp>
      <p:sp>
        <p:nvSpPr>
          <p:cNvPr id="28" name="Text 26"/>
          <p:cNvSpPr/>
          <p:nvPr/>
        </p:nvSpPr>
        <p:spPr>
          <a:xfrm>
            <a:off x="3429000" y="4114800"/>
            <a:ext cx="128016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92.98%</a:t>
            </a:r>
            <a:endParaRPr lang="en-US" sz="1340" dirty="0"/>
          </a:p>
        </p:txBody>
      </p:sp>
      <p:sp>
        <p:nvSpPr>
          <p:cNvPr id="29" name="Text 27"/>
          <p:cNvSpPr/>
          <p:nvPr/>
        </p:nvSpPr>
        <p:spPr>
          <a:xfrm>
            <a:off x="4773168" y="4114800"/>
            <a:ext cx="128016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0.9868</a:t>
            </a:r>
            <a:endParaRPr lang="en-US" sz="1340" dirty="0"/>
          </a:p>
        </p:txBody>
      </p:sp>
      <p:sp>
        <p:nvSpPr>
          <p:cNvPr id="30" name="Text 28"/>
          <p:cNvSpPr/>
          <p:nvPr/>
        </p:nvSpPr>
        <p:spPr>
          <a:xfrm>
            <a:off x="6117336" y="4114800"/>
            <a:ext cx="1179576"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4</a:t>
            </a:r>
            <a:endParaRPr lang="en-US" sz="1340" dirty="0"/>
          </a:p>
        </p:txBody>
      </p:sp>
      <p:sp>
        <p:nvSpPr>
          <p:cNvPr id="31" name="Text 29"/>
          <p:cNvSpPr/>
          <p:nvPr/>
        </p:nvSpPr>
        <p:spPr>
          <a:xfrm>
            <a:off x="7360920" y="4114800"/>
            <a:ext cx="96012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0.0602</a:t>
            </a:r>
            <a:endParaRPr lang="en-US" sz="1340" dirty="0"/>
          </a:p>
        </p:txBody>
      </p:sp>
      <p:sp>
        <p:nvSpPr>
          <p:cNvPr id="32" name="Shape 30"/>
          <p:cNvSpPr/>
          <p:nvPr/>
        </p:nvSpPr>
        <p:spPr>
          <a:xfrm>
            <a:off x="530352" y="4690872"/>
            <a:ext cx="7863840" cy="685800"/>
          </a:xfrm>
          <a:prstGeom prst="roundRect">
            <a:avLst>
              <a:gd name="adj" fmla="val 16000"/>
            </a:avLst>
          </a:prstGeom>
          <a:solidFill>
            <a:srgbClr val="FAEFF0"/>
          </a:solidFill>
          <a:ln w="12700">
            <a:solidFill>
              <a:srgbClr val="FAEFF0">
                <a:alpha val="0"/>
              </a:srgbClr>
            </a:solidFill>
            <a:prstDash val="solid"/>
          </a:ln>
        </p:spPr>
        <p:txBody>
          <a:bodyPr/>
          <a:p/>
        </p:txBody>
      </p:sp>
      <p:sp>
        <p:nvSpPr>
          <p:cNvPr id="33" name="Text 31"/>
          <p:cNvSpPr/>
          <p:nvPr/>
        </p:nvSpPr>
        <p:spPr>
          <a:xfrm>
            <a:off x="585216" y="4882896"/>
            <a:ext cx="2798064" cy="283464"/>
          </a:xfrm>
          <a:prstGeom prst="rect">
            <a:avLst/>
          </a:prstGeom>
          <a:noFill/>
          <a:ln/>
        </p:spPr>
        <p:txBody>
          <a:bodyPr wrap="square" lIns="0" tIns="0" rIns="0" bIns="0" rtlCol="0" anchor="ctr">
            <a:normAutofit/>
          </a:bodyPr>
          <a:lstStyle/>
          <a:p>
            <a:pPr algn="l" indent="0" marL="0">
              <a:buNone/>
            </a:pPr>
            <a:r>
              <a:rPr lang="en-US" sz="1300" dirty="0">
                <a:solidFill>
                  <a:srgbClr val="1D3540"/>
                </a:solidFill>
                <a:latin typeface="Aptos" pitchFamily="34" charset="0"/>
                <a:ea typeface="Aptos" pitchFamily="34" charset="-122"/>
                <a:cs typeface="Aptos" pitchFamily="34" charset="-120"/>
              </a:rPr>
              <a:t>LR, threshold 0.45</a:t>
            </a:r>
            <a:endParaRPr lang="en-US" sz="1300" dirty="0"/>
          </a:p>
        </p:txBody>
      </p:sp>
      <p:sp>
        <p:nvSpPr>
          <p:cNvPr id="34" name="Text 32"/>
          <p:cNvSpPr/>
          <p:nvPr/>
        </p:nvSpPr>
        <p:spPr>
          <a:xfrm>
            <a:off x="3429000" y="4882896"/>
            <a:ext cx="1280160" cy="283464"/>
          </a:xfrm>
          <a:prstGeom prst="rect">
            <a:avLst/>
          </a:prstGeom>
          <a:noFill/>
          <a:ln/>
        </p:spPr>
        <p:txBody>
          <a:bodyPr wrap="square" lIns="0" tIns="0" rIns="0" bIns="0" rtlCol="0" anchor="ctr">
            <a:normAutofit/>
          </a:bodyPr>
          <a:lstStyle/>
          <a:p>
            <a:pPr algn="ctr" indent="0" marL="0">
              <a:buNone/>
            </a:pPr>
            <a:r>
              <a:rPr lang="en-US" sz="1340" dirty="0">
                <a:solidFill>
                  <a:srgbClr val="C75D75"/>
                </a:solidFill>
                <a:latin typeface="Aptos" pitchFamily="34" charset="0"/>
                <a:ea typeface="Aptos" pitchFamily="34" charset="-122"/>
                <a:cs typeface="Aptos" pitchFamily="34" charset="-120"/>
              </a:rPr>
              <a:t>95.61%</a:t>
            </a:r>
            <a:endParaRPr lang="en-US" sz="1340" dirty="0"/>
          </a:p>
        </p:txBody>
      </p:sp>
      <p:sp>
        <p:nvSpPr>
          <p:cNvPr id="35" name="Text 33"/>
          <p:cNvSpPr/>
          <p:nvPr/>
        </p:nvSpPr>
        <p:spPr>
          <a:xfrm>
            <a:off x="4773168" y="4882896"/>
            <a:ext cx="128016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0.9954</a:t>
            </a:r>
            <a:endParaRPr lang="en-US" sz="1340" dirty="0"/>
          </a:p>
        </p:txBody>
      </p:sp>
      <p:sp>
        <p:nvSpPr>
          <p:cNvPr id="36" name="Text 34"/>
          <p:cNvSpPr/>
          <p:nvPr/>
        </p:nvSpPr>
        <p:spPr>
          <a:xfrm>
            <a:off x="6117336" y="4882896"/>
            <a:ext cx="1179576"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1</a:t>
            </a:r>
            <a:endParaRPr lang="en-US" sz="1340" dirty="0"/>
          </a:p>
        </p:txBody>
      </p:sp>
      <p:sp>
        <p:nvSpPr>
          <p:cNvPr id="37" name="Text 35"/>
          <p:cNvSpPr/>
          <p:nvPr/>
        </p:nvSpPr>
        <p:spPr>
          <a:xfrm>
            <a:off x="7360920" y="4882896"/>
            <a:ext cx="960120" cy="283464"/>
          </a:xfrm>
          <a:prstGeom prst="rect">
            <a:avLst/>
          </a:prstGeom>
          <a:noFill/>
          <a:ln/>
        </p:spPr>
        <p:txBody>
          <a:bodyPr wrap="square" lIns="0" tIns="0" rIns="0" bIns="0" rtlCol="0" anchor="ctr">
            <a:normAutofit/>
          </a:bodyPr>
          <a:lstStyle/>
          <a:p>
            <a:pPr algn="ctr" indent="0" marL="0">
              <a:buNone/>
            </a:pPr>
            <a:r>
              <a:rPr lang="en-US" sz="1340" dirty="0">
                <a:solidFill>
                  <a:srgbClr val="1D3540"/>
                </a:solidFill>
                <a:latin typeface="Aptos" pitchFamily="34" charset="0"/>
                <a:ea typeface="Aptos" pitchFamily="34" charset="-122"/>
                <a:cs typeface="Aptos" pitchFamily="34" charset="-120"/>
              </a:rPr>
              <a:t>0.0215</a:t>
            </a:r>
            <a:endParaRPr lang="en-US" sz="1340" dirty="0"/>
          </a:p>
        </p:txBody>
      </p:sp>
      <p:sp>
        <p:nvSpPr>
          <p:cNvPr id="38" name="Shape 36"/>
          <p:cNvSpPr/>
          <p:nvPr/>
        </p:nvSpPr>
        <p:spPr>
          <a:xfrm>
            <a:off x="557784" y="5550408"/>
            <a:ext cx="7818120" cy="548640"/>
          </a:xfrm>
          <a:prstGeom prst="roundRect">
            <a:avLst>
              <a:gd name="adj" fmla="val 20000"/>
            </a:avLst>
          </a:prstGeom>
          <a:solidFill>
            <a:srgbClr val="E9F4F3"/>
          </a:solidFill>
          <a:ln w="12700">
            <a:solidFill>
              <a:srgbClr val="E9F4F3">
                <a:alpha val="0"/>
              </a:srgbClr>
            </a:solidFill>
            <a:prstDash val="solid"/>
          </a:ln>
        </p:spPr>
        <p:txBody>
          <a:bodyPr/>
          <a:p/>
        </p:txBody>
      </p:sp>
      <p:sp>
        <p:nvSpPr>
          <p:cNvPr id="39" name="Text 37"/>
          <p:cNvSpPr/>
          <p:nvPr/>
        </p:nvSpPr>
        <p:spPr>
          <a:xfrm>
            <a:off x="740664" y="5623560"/>
            <a:ext cx="7479792" cy="411480"/>
          </a:xfrm>
          <a:prstGeom prst="rect">
            <a:avLst/>
          </a:prstGeom>
          <a:noFill/>
          <a:ln/>
        </p:spPr>
        <p:txBody>
          <a:bodyPr wrap="square" lIns="0" tIns="0" rIns="0" bIns="0" rtlCol="0" anchor="ctr">
            <a:normAutofit/>
          </a:bodyPr>
          <a:lstStyle/>
          <a:p>
            <a:r>
              <a:rPr sz="1250"/>
              <a:t>Changing the threshold affected classifications but not the underlying probabilities, so ROC-AUC and Brier remained unchanged. Accuracy fell, without detecting another malignancy.</a:t>
            </a:r>
          </a:p>
        </p:txBody>
      </p:sp>
      <p:pic>
        <p:nvPicPr>
          <p:cNvPr id="40" name="Image 0" descr="/mnt/data/bc_assets/roc_three_cropped.png">    </p:cNvPr>
          <p:cNvPicPr>
            <a:picLocks noChangeAspect="1"/>
          </p:cNvPicPr>
          <p:nvPr/>
        </p:nvPicPr>
        <p:blipFill>
          <a:blip r:embed="rId1"/>
          <a:stretch>
            <a:fillRect/>
          </a:stretch>
        </p:blipFill>
        <p:spPr>
          <a:xfrm>
            <a:off x="8430768" y="2344645"/>
            <a:ext cx="3538728" cy="31928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3B49"/>
        </a:solidFill>
      </p:bgPr>
    </p:bg>
    <p:spTree>
      <p:nvGrpSpPr>
        <p:cNvPr id="1" name=""/>
        <p:cNvGrpSpPr/>
        <p:nvPr/>
      </p:nvGrpSpPr>
      <p:grpSpPr>
        <a:xfrm>
          <a:off x="0" y="0"/>
          <a:ext cx="0" cy="0"/>
          <a:chOff x="0" y="0"/>
          <a:chExt cx="0" cy="0"/>
        </a:xfrm>
      </p:grpSpPr>
      <p:sp>
        <p:nvSpPr>
          <p:cNvPr id="2" name="Text 0"/>
          <p:cNvSpPr/>
          <p:nvPr/>
        </p:nvSpPr>
        <p:spPr>
          <a:xfrm>
            <a:off x="521208" y="274320"/>
            <a:ext cx="9144000" cy="246888"/>
          </a:xfrm>
          <a:prstGeom prst="rect">
            <a:avLst/>
          </a:prstGeom>
          <a:noFill/>
          <a:ln/>
        </p:spPr>
        <p:txBody>
          <a:bodyPr wrap="square" lIns="0" tIns="0" rIns="0" bIns="0" rtlCol="0" anchor="ctr">
            <a:normAutofit/>
          </a:bodyPr>
          <a:lstStyle/>
          <a:p>
            <a:pPr indent="0" marL="0">
              <a:buNone/>
            </a:pPr>
            <a:r>
              <a:rPr lang="en-US" sz="1150" b="1" spc="260" kern="0" dirty="0">
                <a:solidFill>
                  <a:srgbClr val="90D0C6"/>
                </a:solidFill>
                <a:latin typeface="Aptos" pitchFamily="34" charset="0"/>
                <a:ea typeface="Aptos" pitchFamily="34" charset="-122"/>
                <a:cs typeface="Aptos" pitchFamily="34" charset="-120"/>
              </a:rPr>
              <a:t>FINAL REVIEW    |    CONCLUSIONS</a:t>
            </a:r>
            <a:endParaRPr lang="en-US" sz="1150" dirty="0"/>
          </a:p>
        </p:txBody>
      </p:sp>
      <p:sp>
        <p:nvSpPr>
          <p:cNvPr id="3" name="Text 1"/>
          <p:cNvSpPr/>
          <p:nvPr/>
        </p:nvSpPr>
        <p:spPr>
          <a:xfrm>
            <a:off x="530352" y="758952"/>
            <a:ext cx="10762488" cy="640080"/>
          </a:xfrm>
          <a:prstGeom prst="rect">
            <a:avLst/>
          </a:prstGeom>
          <a:noFill/>
          <a:ln/>
        </p:spPr>
        <p:txBody>
          <a:bodyPr wrap="square" lIns="0" tIns="0" rIns="0" bIns="0" rtlCol="0" anchor="ctr">
            <a:normAutofit/>
          </a:bodyPr>
          <a:lstStyle/>
          <a:p>
            <a:r>
              <a:rPr sz="3120">
                <a:solidFill>
                  <a:srgbClr val="FFFFFF"/>
                </a:solidFill>
              </a:rPr>
              <a:t>Final conclusions and practical limitations</a:t>
            </a:r>
          </a:p>
        </p:txBody>
      </p:sp>
      <p:sp>
        <p:nvSpPr>
          <p:cNvPr id="4" name="Shape 2"/>
          <p:cNvSpPr/>
          <p:nvPr/>
        </p:nvSpPr>
        <p:spPr>
          <a:xfrm>
            <a:off x="557784" y="1773936"/>
            <a:ext cx="457200" cy="457200"/>
          </a:xfrm>
          <a:prstGeom prst="ellipse">
            <a:avLst/>
          </a:prstGeom>
          <a:solidFill>
            <a:srgbClr val="90D0C6"/>
          </a:solidFill>
          <a:ln w="12700">
            <a:solidFill>
              <a:srgbClr val="90D0C6"/>
            </a:solidFill>
            <a:prstDash val="solid"/>
          </a:ln>
        </p:spPr>
        <p:txBody>
          <a:bodyPr/>
          <a:p/>
        </p:txBody>
      </p:sp>
      <p:sp>
        <p:nvSpPr>
          <p:cNvPr id="5" name="Text 3"/>
          <p:cNvSpPr/>
          <p:nvPr/>
        </p:nvSpPr>
        <p:spPr>
          <a:xfrm>
            <a:off x="557784" y="1865376"/>
            <a:ext cx="457200" cy="201168"/>
          </a:xfrm>
          <a:prstGeom prst="rect">
            <a:avLst/>
          </a:prstGeom>
          <a:noFill/>
          <a:ln/>
        </p:spPr>
        <p:txBody>
          <a:bodyPr wrap="square" lIns="0" tIns="0" rIns="0" bIns="0" rtlCol="0" anchor="ctr">
            <a:normAutofit/>
          </a:bodyPr>
          <a:lstStyle/>
          <a:p>
            <a:pPr algn="ctr" indent="0" marL="0">
              <a:buNone/>
            </a:pPr>
            <a:r>
              <a:rPr lang="en-US" sz="1430" b="1" dirty="0">
                <a:solidFill>
                  <a:srgbClr val="103B49"/>
                </a:solidFill>
                <a:latin typeface="Aptos" pitchFamily="34" charset="0"/>
                <a:ea typeface="Aptos" pitchFamily="34" charset="-122"/>
                <a:cs typeface="Aptos" pitchFamily="34" charset="-120"/>
              </a:rPr>
              <a:t>1</a:t>
            </a:r>
            <a:endParaRPr lang="en-US" sz="1430" dirty="0"/>
          </a:p>
        </p:txBody>
      </p:sp>
      <p:sp>
        <p:nvSpPr>
          <p:cNvPr id="6" name="Text 4"/>
          <p:cNvSpPr/>
          <p:nvPr/>
        </p:nvSpPr>
        <p:spPr>
          <a:xfrm>
            <a:off x="1225296" y="1728216"/>
            <a:ext cx="10049256" cy="484632"/>
          </a:xfrm>
          <a:prstGeom prst="rect">
            <a:avLst/>
          </a:prstGeom>
          <a:noFill/>
          <a:ln/>
        </p:spPr>
        <p:txBody>
          <a:bodyPr wrap="square" lIns="0" tIns="0" rIns="0" bIns="0" rtlCol="0" anchor="ctr">
            <a:normAutofit/>
          </a:bodyPr>
          <a:lstStyle/>
          <a:p>
            <a:r>
              <a:rPr sz="1350">
                <a:solidFill>
                  <a:srgbClr val="FFFFFF"/>
                </a:solidFill>
              </a:rPr>
              <a:t>Logistic Regression performed best in our comparison</a:t>
            </a:r>
          </a:p>
        </p:txBody>
      </p:sp>
      <p:sp>
        <p:nvSpPr>
          <p:cNvPr id="7" name="Text 5"/>
          <p:cNvSpPr/>
          <p:nvPr/>
        </p:nvSpPr>
        <p:spPr>
          <a:xfrm>
            <a:off x="1234440" y="2203704"/>
            <a:ext cx="9985248" cy="640080"/>
          </a:xfrm>
          <a:prstGeom prst="rect">
            <a:avLst/>
          </a:prstGeom>
          <a:noFill/>
          <a:ln/>
        </p:spPr>
        <p:txBody>
          <a:bodyPr wrap="square" lIns="0" tIns="0" rIns="0" bIns="0" rtlCol="0" anchor="t">
            <a:normAutofit/>
          </a:bodyPr>
          <a:lstStyle/>
          <a:p>
            <a:r>
              <a:rPr sz="1470">
                <a:solidFill>
                  <a:srgbClr val="FFFFFF"/>
                </a:solidFill>
              </a:rPr>
              <a:t>On 114 unseen cases, it achieved 98.25% accuracy and 0.9954 ROC-AUC, with only 1 of the 42 malignant cases missed.</a:t>
            </a:r>
          </a:p>
        </p:txBody>
      </p:sp>
      <p:sp>
        <p:nvSpPr>
          <p:cNvPr id="8" name="Shape 6"/>
          <p:cNvSpPr/>
          <p:nvPr/>
        </p:nvSpPr>
        <p:spPr>
          <a:xfrm>
            <a:off x="557784" y="3017520"/>
            <a:ext cx="457200" cy="457200"/>
          </a:xfrm>
          <a:prstGeom prst="ellipse">
            <a:avLst/>
          </a:prstGeom>
          <a:solidFill>
            <a:srgbClr val="90D0C6"/>
          </a:solidFill>
          <a:ln w="12700">
            <a:solidFill>
              <a:srgbClr val="90D0C6"/>
            </a:solidFill>
            <a:prstDash val="solid"/>
          </a:ln>
        </p:spPr>
        <p:txBody>
          <a:bodyPr/>
          <a:p/>
        </p:txBody>
      </p:sp>
      <p:sp>
        <p:nvSpPr>
          <p:cNvPr id="9" name="Text 7"/>
          <p:cNvSpPr/>
          <p:nvPr/>
        </p:nvSpPr>
        <p:spPr>
          <a:xfrm>
            <a:off x="557784" y="3108960"/>
            <a:ext cx="457200" cy="201168"/>
          </a:xfrm>
          <a:prstGeom prst="rect">
            <a:avLst/>
          </a:prstGeom>
          <a:noFill/>
          <a:ln/>
        </p:spPr>
        <p:txBody>
          <a:bodyPr wrap="square" lIns="0" tIns="0" rIns="0" bIns="0" rtlCol="0" anchor="ctr">
            <a:normAutofit/>
          </a:bodyPr>
          <a:lstStyle/>
          <a:p>
            <a:pPr algn="ctr" indent="0" marL="0">
              <a:buNone/>
            </a:pPr>
            <a:r>
              <a:rPr lang="en-US" sz="1430" b="1" dirty="0">
                <a:solidFill>
                  <a:srgbClr val="103B49"/>
                </a:solidFill>
                <a:latin typeface="Aptos" pitchFamily="34" charset="0"/>
                <a:ea typeface="Aptos" pitchFamily="34" charset="-122"/>
                <a:cs typeface="Aptos" pitchFamily="34" charset="-120"/>
              </a:rPr>
              <a:t>2</a:t>
            </a:r>
            <a:endParaRPr lang="en-US" sz="1430" dirty="0"/>
          </a:p>
        </p:txBody>
      </p:sp>
      <p:sp>
        <p:nvSpPr>
          <p:cNvPr id="10" name="Text 8"/>
          <p:cNvSpPr/>
          <p:nvPr/>
        </p:nvSpPr>
        <p:spPr>
          <a:xfrm>
            <a:off x="1225296" y="2971800"/>
            <a:ext cx="10049256" cy="356616"/>
          </a:xfrm>
          <a:prstGeom prst="rect">
            <a:avLst/>
          </a:prstGeom>
          <a:noFill/>
          <a:ln/>
        </p:spPr>
        <p:txBody>
          <a:bodyPr wrap="square" lIns="0" tIns="0" rIns="0" bIns="0" rtlCol="0" anchor="ctr">
            <a:normAutofit/>
          </a:bodyPr>
          <a:lstStyle/>
          <a:p>
            <a:r>
              <a:rPr sz="1900">
                <a:solidFill>
                  <a:srgbClr val="FFFFFF"/>
                </a:solidFill>
              </a:rPr>
              <a:t>Our planned LR–GNB comparison showed a difference</a:t>
            </a:r>
          </a:p>
        </p:txBody>
      </p:sp>
      <p:sp>
        <p:nvSpPr>
          <p:cNvPr id="11" name="Text 9"/>
          <p:cNvSpPr/>
          <p:nvPr/>
        </p:nvSpPr>
        <p:spPr>
          <a:xfrm>
            <a:off x="1234440" y="3447288"/>
            <a:ext cx="9985248" cy="640080"/>
          </a:xfrm>
          <a:prstGeom prst="rect">
            <a:avLst/>
          </a:prstGeom>
          <a:noFill/>
          <a:ln/>
        </p:spPr>
        <p:txBody>
          <a:bodyPr wrap="square" lIns="0" tIns="0" rIns="0" bIns="0" rtlCol="0" anchor="t">
            <a:normAutofit/>
          </a:bodyPr>
          <a:lstStyle/>
          <a:p>
            <a:r>
              <a:rPr sz="1470">
                <a:solidFill>
                  <a:srgbClr val="FFFFFF"/>
                </a:solidFill>
              </a:rPr>
              <a:t>McNemar’s exact p-value was 0.0312 for the planned comparison. After correcting for all three pairwise comparisons, the adjusted value was 0.0938.</a:t>
            </a:r>
          </a:p>
        </p:txBody>
      </p:sp>
      <p:sp>
        <p:nvSpPr>
          <p:cNvPr id="12" name="Shape 10"/>
          <p:cNvSpPr/>
          <p:nvPr/>
        </p:nvSpPr>
        <p:spPr>
          <a:xfrm>
            <a:off x="557784" y="4261104"/>
            <a:ext cx="457200" cy="457200"/>
          </a:xfrm>
          <a:prstGeom prst="ellipse">
            <a:avLst/>
          </a:prstGeom>
          <a:solidFill>
            <a:srgbClr val="90D0C6"/>
          </a:solidFill>
          <a:ln w="12700">
            <a:solidFill>
              <a:srgbClr val="90D0C6"/>
            </a:solidFill>
            <a:prstDash val="solid"/>
          </a:ln>
        </p:spPr>
        <p:txBody>
          <a:bodyPr/>
          <a:p/>
        </p:txBody>
      </p:sp>
      <p:sp>
        <p:nvSpPr>
          <p:cNvPr id="13" name="Text 11"/>
          <p:cNvSpPr/>
          <p:nvPr/>
        </p:nvSpPr>
        <p:spPr>
          <a:xfrm>
            <a:off x="557784" y="4352544"/>
            <a:ext cx="457200" cy="201168"/>
          </a:xfrm>
          <a:prstGeom prst="rect">
            <a:avLst/>
          </a:prstGeom>
          <a:noFill/>
          <a:ln/>
        </p:spPr>
        <p:txBody>
          <a:bodyPr wrap="square" lIns="0" tIns="0" rIns="0" bIns="0" rtlCol="0" anchor="ctr">
            <a:normAutofit/>
          </a:bodyPr>
          <a:lstStyle/>
          <a:p>
            <a:pPr algn="ctr" indent="0" marL="0">
              <a:buNone/>
            </a:pPr>
            <a:r>
              <a:rPr lang="en-US" sz="1430" b="1" dirty="0">
                <a:solidFill>
                  <a:srgbClr val="103B49"/>
                </a:solidFill>
                <a:latin typeface="Aptos" pitchFamily="34" charset="0"/>
                <a:ea typeface="Aptos" pitchFamily="34" charset="-122"/>
                <a:cs typeface="Aptos" pitchFamily="34" charset="-120"/>
              </a:rPr>
              <a:t>3</a:t>
            </a:r>
            <a:endParaRPr lang="en-US" sz="1430" dirty="0"/>
          </a:p>
        </p:txBody>
      </p:sp>
      <p:sp>
        <p:nvSpPr>
          <p:cNvPr id="14" name="Text 12"/>
          <p:cNvSpPr/>
          <p:nvPr/>
        </p:nvSpPr>
        <p:spPr>
          <a:xfrm>
            <a:off x="1225296" y="4215384"/>
            <a:ext cx="10049256" cy="356616"/>
          </a:xfrm>
          <a:prstGeom prst="rect">
            <a:avLst/>
          </a:prstGeom>
          <a:noFill/>
          <a:ln/>
        </p:spPr>
        <p:txBody>
          <a:bodyPr wrap="square" lIns="0" tIns="0" rIns="0" bIns="0" rtlCol="0" anchor="ctr">
            <a:normAutofit/>
          </a:bodyPr>
          <a:lstStyle/>
          <a:p>
            <a:r>
              <a:rPr sz="1900">
                <a:solidFill>
                  <a:srgbClr val="FFFFFF"/>
                </a:solidFill>
              </a:rPr>
              <a:t>Additional tuning and model complexity did not guarantee gains</a:t>
            </a:r>
          </a:p>
        </p:txBody>
      </p:sp>
      <p:sp>
        <p:nvSpPr>
          <p:cNvPr id="15" name="Text 13"/>
          <p:cNvSpPr/>
          <p:nvPr/>
        </p:nvSpPr>
        <p:spPr>
          <a:xfrm>
            <a:off x="1234440" y="4690872"/>
            <a:ext cx="9985248" cy="640080"/>
          </a:xfrm>
          <a:prstGeom prst="rect">
            <a:avLst/>
          </a:prstGeom>
          <a:noFill/>
          <a:ln/>
        </p:spPr>
        <p:txBody>
          <a:bodyPr wrap="square" lIns="0" tIns="0" rIns="0" bIns="0" rtlCol="0" anchor="t">
            <a:normAutofit/>
          </a:bodyPr>
          <a:lstStyle/>
          <a:p>
            <a:r>
              <a:rPr sz="1470">
                <a:solidFill>
                  <a:srgbClr val="FFFFFF"/>
                </a:solidFill>
              </a:rPr>
              <a:t>Cross-validation selected the original C = 1.0, threshold 0.45 caused more false alarms, and Random Forest performed well but did not beat Logistic Regression.</a:t>
            </a:r>
          </a:p>
        </p:txBody>
      </p:sp>
      <p:sp>
        <p:nvSpPr>
          <p:cNvPr id="16" name="Shape 14"/>
          <p:cNvSpPr/>
          <p:nvPr/>
        </p:nvSpPr>
        <p:spPr>
          <a:xfrm>
            <a:off x="557784" y="5568696"/>
            <a:ext cx="11009376" cy="0"/>
          </a:xfrm>
          <a:prstGeom prst="line">
            <a:avLst/>
          </a:prstGeom>
          <a:noFill/>
          <a:ln w="15240">
            <a:solidFill>
              <a:srgbClr val="90D0C6"/>
            </a:solidFill>
            <a:prstDash val="solid"/>
          </a:ln>
        </p:spPr>
        <p:txBody>
          <a:bodyPr/>
          <a:p/>
        </p:txBody>
      </p:sp>
      <p:sp>
        <p:nvSpPr>
          <p:cNvPr id="17" name="Text 15"/>
          <p:cNvSpPr/>
          <p:nvPr/>
        </p:nvSpPr>
        <p:spPr>
          <a:xfrm>
            <a:off x="576072" y="5760720"/>
            <a:ext cx="1033272" cy="219456"/>
          </a:xfrm>
          <a:prstGeom prst="rect">
            <a:avLst/>
          </a:prstGeom>
          <a:noFill/>
          <a:ln/>
        </p:spPr>
        <p:txBody>
          <a:bodyPr wrap="square" lIns="0" tIns="0" rIns="0" bIns="0" rtlCol="0" anchor="ctr">
            <a:normAutofit/>
          </a:bodyPr>
          <a:lstStyle/>
          <a:p>
            <a:pPr indent="0" marL="0">
              <a:buNone/>
            </a:pPr>
            <a:r>
              <a:rPr lang="en-US" sz="1140" b="1" spc="120" kern="0" dirty="0">
                <a:solidFill>
                  <a:srgbClr val="90D0C6"/>
                </a:solidFill>
                <a:latin typeface="Aptos" pitchFamily="34" charset="0"/>
                <a:ea typeface="Aptos" pitchFamily="34" charset="-122"/>
                <a:cs typeface="Aptos" pitchFamily="34" charset="-120"/>
              </a:rPr>
              <a:t>LIMITATION</a:t>
            </a:r>
            <a:endParaRPr lang="en-US" sz="1140" dirty="0"/>
          </a:p>
        </p:txBody>
      </p:sp>
      <p:sp>
        <p:nvSpPr>
          <p:cNvPr id="18" name="Text 16"/>
          <p:cNvSpPr/>
          <p:nvPr/>
        </p:nvSpPr>
        <p:spPr>
          <a:xfrm>
            <a:off x="1764792" y="5733288"/>
            <a:ext cx="9738360" cy="402336"/>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Single benchmark dataset • 114 test samples (42 malignant) • no external validation • not a medical diagnostic tool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VIT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Classification | Final Review</dc:title>
  <dc:subject>Final Review - Breast Cancer Classification</dc:subject>
  <dc:creator>BAMAT207 Project Team</dc:creator>
  <cp:lastModifiedBy>BAMAT207 Project Team</cp:lastModifiedBy>
  <cp:revision>1</cp:revision>
  <dcterms:created xsi:type="dcterms:W3CDTF">2026-10-28T13:42:09Z</dcterms:created>
  <dcterms:modified xsi:type="dcterms:W3CDTF">2026-10-28T13:42:09Z</dcterms:modified>
</cp:coreProperties>
</file>